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ambria" panose="02040503050406030204" pitchFamily="18" charset="0"/>
      <p:regular r:id="rId34"/>
      <p:bold r:id="rId35"/>
      <p:italic r:id="rId36"/>
      <p:boldItalic r:id="rId37"/>
    </p:embeddedFont>
    <p:embeddedFont>
      <p:font typeface="Montserrat" pitchFamily="2" charset="77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BC61C95-EA2D-4669-AD38-D9BFFBAD4D43}">
  <a:tblStyle styleId="{CBC61C95-EA2D-4669-AD38-D9BFFBAD4D4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6"/>
  </p:normalViewPr>
  <p:slideViewPr>
    <p:cSldViewPr snapToGrid="0">
      <p:cViewPr varScale="1">
        <p:scale>
          <a:sx n="107" d="100"/>
          <a:sy n="107" d="100"/>
        </p:scale>
        <p:origin x="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a89ca31ab_1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914400"/>
            <a:ext cx="6096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g3fa89ca31ab_1_15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a89ca31ab_1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914400"/>
            <a:ext cx="6096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g3fa89ca31ab_1_16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fa89ca31ab_1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914400"/>
            <a:ext cx="6096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g3fa89ca31ab_1_18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a89ca31ab_1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914400"/>
            <a:ext cx="6096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3fa89ca31ab_1_20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a89ca31ab_1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914400"/>
            <a:ext cx="6096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g3fa89ca31ab_1_26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a89ca31ab_1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914400"/>
            <a:ext cx="6096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3fa89ca31ab_1_32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" name="Google Shape;392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0" name="Google Shape;440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8" name="Google Shape;468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9" name="Google Shape;479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0" name="Google Shape;500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0" name="Google Shape;510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a89ca31ab_1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6" name="Google Shape;546;g3fa89ca31ab_1_39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a89ca31ab_1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914400"/>
            <a:ext cx="6096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2" name="Google Shape;562;g3fa89ca31ab_1_41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9216991" y="632329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10c6f3a56_9_0)">
  <p:cSld name="Generated (g3f10c6f3a56_9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9216991" y="632329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" name="Google Shape;16;p4" descr="A high-end, minimalist architectural background with abstract geometric lines suggesting a digital library or university hall, dark blue tones, professional and clean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/>
          <p:nvPr/>
        </p:nvSpPr>
        <p:spPr>
          <a:xfrm>
            <a:off x="0" y="6350000"/>
            <a:ext cx="12192000" cy="507900"/>
          </a:xfrm>
          <a:prstGeom prst="rect">
            <a:avLst/>
          </a:prstGeom>
          <a:solidFill>
            <a:srgbClr val="14294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" name="Google Shape;18;p4"/>
          <p:cNvCxnSpPr/>
          <p:nvPr/>
        </p:nvCxnSpPr>
        <p:spPr>
          <a:xfrm>
            <a:off x="929367" y="455600"/>
            <a:ext cx="1524000" cy="0"/>
          </a:xfrm>
          <a:prstGeom prst="straightConnector1">
            <a:avLst/>
          </a:prstGeom>
          <a:solidFill>
            <a:srgbClr val="FFFFFF"/>
          </a:solidFill>
          <a:ln w="50800" cap="flat" cmpd="sng">
            <a:solidFill>
              <a:srgbClr val="007B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4"/>
          <p:cNvSpPr txBox="1"/>
          <p:nvPr/>
        </p:nvSpPr>
        <p:spPr>
          <a:xfrm>
            <a:off x="929367" y="550767"/>
            <a:ext cx="10160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8CB5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Trường Đại học Công nghệ Thông tin</a:t>
            </a:r>
            <a:endParaRPr sz="2900" b="1" i="0" u="none" strike="noStrike" cap="none">
              <a:solidFill>
                <a:srgbClr val="8CB5F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8CB5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MÔN HỆ THỐNG QUẢN TRỊ QUY TRÌNH NGHIỆP VỤ</a:t>
            </a:r>
            <a:endParaRPr sz="2900" b="1" i="0" u="none" strike="noStrike" cap="none">
              <a:solidFill>
                <a:srgbClr val="8CB5F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0;p4"/>
          <p:cNvSpPr txBox="1"/>
          <p:nvPr/>
        </p:nvSpPr>
        <p:spPr>
          <a:xfrm>
            <a:off x="929367" y="1905000"/>
            <a:ext cx="101601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lang="en-US" sz="47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Quản lý quy trình nghiệp vụ tại AR System Co., Ltd.</a:t>
            </a:r>
            <a:endParaRPr sz="1900"/>
          </a:p>
        </p:txBody>
      </p:sp>
      <p:pic>
        <p:nvPicPr>
          <p:cNvPr id="21" name="Google Shape;2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9367" y="3587433"/>
            <a:ext cx="1016000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1016000" y="3747033"/>
            <a:ext cx="5079900" cy="22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8CB5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Giảng viên hướng dẫn:</a:t>
            </a:r>
            <a:endParaRPr sz="2100" b="1" i="0" u="none" strike="noStrike" cap="none">
              <a:solidFill>
                <a:srgbClr val="8CB5F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F8F9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ThS. Hà Lê Hoài Trung</a:t>
            </a:r>
            <a:endParaRPr sz="1900"/>
          </a:p>
        </p:txBody>
      </p:sp>
      <p:sp>
        <p:nvSpPr>
          <p:cNvPr id="23" name="Google Shape;23;p4"/>
          <p:cNvSpPr txBox="1"/>
          <p:nvPr/>
        </p:nvSpPr>
        <p:spPr>
          <a:xfrm>
            <a:off x="6350000" y="3747367"/>
            <a:ext cx="4826100" cy="17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8CB5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Sinh viên thực hiện:</a:t>
            </a:r>
            <a:endParaRPr sz="2100" b="1" i="0" u="none" strike="noStrike" cap="none">
              <a:solidFill>
                <a:srgbClr val="8CB5F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F8F9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Nguyễn Minh Tiến - 25210213</a:t>
            </a:r>
            <a:endParaRPr sz="2100" b="0" i="0" u="none" strike="noStrike" cap="none">
              <a:solidFill>
                <a:srgbClr val="F8F9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F8F9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Huỳnh Thị Minh Phương - 25210171</a:t>
            </a:r>
            <a:endParaRPr sz="2100" b="0" i="0" u="none" strike="noStrike" cap="none">
              <a:solidFill>
                <a:srgbClr val="F8F9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F8F9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Nguyễn Hoàng Ngọc Chi - 25210070</a:t>
            </a:r>
            <a:endParaRPr sz="2100" b="0" i="0" u="none" strike="noStrike" cap="none">
              <a:solidFill>
                <a:srgbClr val="F8F9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0" y="6350000"/>
            <a:ext cx="12192000" cy="507900"/>
          </a:xfrm>
          <a:prstGeom prst="rect">
            <a:avLst/>
          </a:prstGeom>
          <a:solidFill>
            <a:srgbClr val="14294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" name="Google Shape;31;p5"/>
          <p:cNvCxnSpPr/>
          <p:nvPr/>
        </p:nvCxnSpPr>
        <p:spPr>
          <a:xfrm>
            <a:off x="762000" y="635000"/>
            <a:ext cx="0" cy="507900"/>
          </a:xfrm>
          <a:prstGeom prst="straightConnector1">
            <a:avLst/>
          </a:prstGeom>
          <a:solidFill>
            <a:srgbClr val="FFFFFF"/>
          </a:solidFill>
          <a:ln w="50800" cap="flat" cmpd="sng">
            <a:solidFill>
              <a:srgbClr val="007B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/>
          <p:nvPr/>
        </p:nvSpPr>
        <p:spPr>
          <a:xfrm>
            <a:off x="1016000" y="571500"/>
            <a:ext cx="101601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US" sz="3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 TRÌNH BÀY</a:t>
            </a:r>
            <a:endParaRPr sz="37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3" name="Google Shape;33;p5"/>
          <p:cNvGrpSpPr/>
          <p:nvPr/>
        </p:nvGrpSpPr>
        <p:grpSpPr>
          <a:xfrm>
            <a:off x="762101" y="1651026"/>
            <a:ext cx="10337082" cy="508022"/>
            <a:chOff x="571500" y="1238250"/>
            <a:chExt cx="4286400" cy="1047900"/>
          </a:xfrm>
        </p:grpSpPr>
        <p:sp>
          <p:nvSpPr>
            <p:cNvPr id="34" name="Google Shape;34;p5"/>
            <p:cNvSpPr/>
            <p:nvPr/>
          </p:nvSpPr>
          <p:spPr>
            <a:xfrm>
              <a:off x="571500" y="1238250"/>
              <a:ext cx="4286400" cy="1047900"/>
            </a:xfrm>
            <a:prstGeom prst="roundRect">
              <a:avLst>
                <a:gd name="adj" fmla="val 10909"/>
              </a:avLst>
            </a:prstGeom>
            <a:solidFill>
              <a:srgbClr val="142948"/>
            </a:solidFill>
            <a:ln w="12700" cap="flat" cmpd="sng">
              <a:solidFill>
                <a:srgbClr val="007B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" name="Google Shape;35;p5"/>
            <p:cNvSpPr txBox="1"/>
            <p:nvPr/>
          </p:nvSpPr>
          <p:spPr>
            <a:xfrm>
              <a:off x="708759" y="1432293"/>
              <a:ext cx="3429000" cy="75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01.	Giới thiệu chung</a:t>
              </a:r>
              <a:endParaRPr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" name="Google Shape;36;p5"/>
          <p:cNvGrpSpPr/>
          <p:nvPr/>
        </p:nvGrpSpPr>
        <p:grpSpPr>
          <a:xfrm>
            <a:off x="762031" y="2390158"/>
            <a:ext cx="10337082" cy="508022"/>
            <a:chOff x="571500" y="1238250"/>
            <a:chExt cx="4286400" cy="1047900"/>
          </a:xfrm>
        </p:grpSpPr>
        <p:sp>
          <p:nvSpPr>
            <p:cNvPr id="37" name="Google Shape;37;p5"/>
            <p:cNvSpPr/>
            <p:nvPr/>
          </p:nvSpPr>
          <p:spPr>
            <a:xfrm>
              <a:off x="571500" y="1238250"/>
              <a:ext cx="4286400" cy="1047900"/>
            </a:xfrm>
            <a:prstGeom prst="roundRect">
              <a:avLst>
                <a:gd name="adj" fmla="val 10909"/>
              </a:avLst>
            </a:prstGeom>
            <a:solidFill>
              <a:srgbClr val="142948"/>
            </a:solidFill>
            <a:ln w="12700" cap="flat" cmpd="sng">
              <a:solidFill>
                <a:srgbClr val="007B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" name="Google Shape;38;p5"/>
            <p:cNvSpPr txBox="1"/>
            <p:nvPr/>
          </p:nvSpPr>
          <p:spPr>
            <a:xfrm>
              <a:off x="708759" y="1432293"/>
              <a:ext cx="3429000" cy="75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02.	Kiến trúc quy trình</a:t>
              </a:r>
              <a:endParaRPr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9" name="Google Shape;39;p5"/>
          <p:cNvGrpSpPr/>
          <p:nvPr/>
        </p:nvGrpSpPr>
        <p:grpSpPr>
          <a:xfrm>
            <a:off x="762031" y="3129290"/>
            <a:ext cx="10337082" cy="508022"/>
            <a:chOff x="571500" y="1238250"/>
            <a:chExt cx="4286400" cy="1047900"/>
          </a:xfrm>
        </p:grpSpPr>
        <p:sp>
          <p:nvSpPr>
            <p:cNvPr id="40" name="Google Shape;40;p5"/>
            <p:cNvSpPr/>
            <p:nvPr/>
          </p:nvSpPr>
          <p:spPr>
            <a:xfrm>
              <a:off x="571500" y="1238250"/>
              <a:ext cx="4286400" cy="1047900"/>
            </a:xfrm>
            <a:prstGeom prst="roundRect">
              <a:avLst>
                <a:gd name="adj" fmla="val 10909"/>
              </a:avLst>
            </a:prstGeom>
            <a:solidFill>
              <a:srgbClr val="142948"/>
            </a:solidFill>
            <a:ln w="12700" cap="flat" cmpd="sng">
              <a:solidFill>
                <a:srgbClr val="007B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" name="Google Shape;41;p5"/>
            <p:cNvSpPr txBox="1"/>
            <p:nvPr/>
          </p:nvSpPr>
          <p:spPr>
            <a:xfrm>
              <a:off x="708759" y="1432293"/>
              <a:ext cx="3429000" cy="75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03.	Mô hình hóa quy trình</a:t>
              </a:r>
              <a:endParaRPr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2" name="Google Shape;42;p5"/>
          <p:cNvGrpSpPr/>
          <p:nvPr/>
        </p:nvGrpSpPr>
        <p:grpSpPr>
          <a:xfrm>
            <a:off x="762031" y="3862093"/>
            <a:ext cx="10337082" cy="508022"/>
            <a:chOff x="571500" y="1238250"/>
            <a:chExt cx="4286400" cy="1047900"/>
          </a:xfrm>
        </p:grpSpPr>
        <p:sp>
          <p:nvSpPr>
            <p:cNvPr id="43" name="Google Shape;43;p5"/>
            <p:cNvSpPr/>
            <p:nvPr/>
          </p:nvSpPr>
          <p:spPr>
            <a:xfrm>
              <a:off x="571500" y="1238250"/>
              <a:ext cx="4286400" cy="1047900"/>
            </a:xfrm>
            <a:prstGeom prst="roundRect">
              <a:avLst>
                <a:gd name="adj" fmla="val 10909"/>
              </a:avLst>
            </a:prstGeom>
            <a:solidFill>
              <a:srgbClr val="142948"/>
            </a:solidFill>
            <a:ln w="12700" cap="flat" cmpd="sng">
              <a:solidFill>
                <a:srgbClr val="007B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" name="Google Shape;44;p5"/>
            <p:cNvSpPr txBox="1"/>
            <p:nvPr/>
          </p:nvSpPr>
          <p:spPr>
            <a:xfrm>
              <a:off x="708759" y="1432293"/>
              <a:ext cx="3429000" cy="75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04.	Phân tích quy trình</a:t>
              </a:r>
              <a:endParaRPr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5" name="Google Shape;45;p5"/>
          <p:cNvGrpSpPr/>
          <p:nvPr/>
        </p:nvGrpSpPr>
        <p:grpSpPr>
          <a:xfrm>
            <a:off x="762031" y="4599715"/>
            <a:ext cx="10337082" cy="508022"/>
            <a:chOff x="571500" y="1238250"/>
            <a:chExt cx="4286400" cy="1047900"/>
          </a:xfrm>
        </p:grpSpPr>
        <p:sp>
          <p:nvSpPr>
            <p:cNvPr id="46" name="Google Shape;46;p5"/>
            <p:cNvSpPr/>
            <p:nvPr/>
          </p:nvSpPr>
          <p:spPr>
            <a:xfrm>
              <a:off x="571500" y="1238250"/>
              <a:ext cx="4286400" cy="1047900"/>
            </a:xfrm>
            <a:prstGeom prst="roundRect">
              <a:avLst>
                <a:gd name="adj" fmla="val 10909"/>
              </a:avLst>
            </a:prstGeom>
            <a:solidFill>
              <a:srgbClr val="142948"/>
            </a:solidFill>
            <a:ln w="12700" cap="flat" cmpd="sng">
              <a:solidFill>
                <a:srgbClr val="007B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" name="Google Shape;47;p5"/>
            <p:cNvSpPr txBox="1"/>
            <p:nvPr/>
          </p:nvSpPr>
          <p:spPr>
            <a:xfrm>
              <a:off x="708759" y="1432293"/>
              <a:ext cx="3429000" cy="75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05.	Kết luận</a:t>
              </a:r>
              <a:endParaRPr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8" name="Google Shape;48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0" y="6350000"/>
            <a:ext cx="12192000" cy="507900"/>
          </a:xfrm>
          <a:prstGeom prst="rect">
            <a:avLst/>
          </a:prstGeom>
          <a:solidFill>
            <a:srgbClr val="14294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5" name="Google Shape;55;p6"/>
          <p:cNvCxnSpPr/>
          <p:nvPr/>
        </p:nvCxnSpPr>
        <p:spPr>
          <a:xfrm>
            <a:off x="762000" y="635000"/>
            <a:ext cx="0" cy="507900"/>
          </a:xfrm>
          <a:prstGeom prst="straightConnector1">
            <a:avLst/>
          </a:prstGeom>
          <a:solidFill>
            <a:srgbClr val="FFFFFF"/>
          </a:solidFill>
          <a:ln w="50800" cap="flat" cmpd="sng">
            <a:solidFill>
              <a:srgbClr val="007B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" name="Google Shape;56;p6"/>
          <p:cNvSpPr txBox="1"/>
          <p:nvPr/>
        </p:nvSpPr>
        <p:spPr>
          <a:xfrm>
            <a:off x="1016000" y="571500"/>
            <a:ext cx="101601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US" sz="37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Giới thiệu về AR System Co., Ltd</a:t>
            </a:r>
            <a:endParaRPr sz="3700" b="1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6"/>
          <p:cNvSpPr txBox="1"/>
          <p:nvPr/>
        </p:nvSpPr>
        <p:spPr>
          <a:xfrm>
            <a:off x="762000" y="224628"/>
            <a:ext cx="3077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007B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01. Giới thiệu chung</a:t>
            </a:r>
            <a:endParaRPr sz="2600" b="0" i="0" u="none" strike="noStrike" cap="none">
              <a:solidFill>
                <a:srgbClr val="007B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8" name="Google Shape;58;p6"/>
          <p:cNvGrpSpPr/>
          <p:nvPr/>
        </p:nvGrpSpPr>
        <p:grpSpPr>
          <a:xfrm>
            <a:off x="832933" y="1639088"/>
            <a:ext cx="4970509" cy="4278366"/>
            <a:chOff x="571500" y="1238250"/>
            <a:chExt cx="4286400" cy="1047900"/>
          </a:xfrm>
        </p:grpSpPr>
        <p:sp>
          <p:nvSpPr>
            <p:cNvPr id="59" name="Google Shape;59;p6"/>
            <p:cNvSpPr/>
            <p:nvPr/>
          </p:nvSpPr>
          <p:spPr>
            <a:xfrm>
              <a:off x="571500" y="1238250"/>
              <a:ext cx="4286400" cy="1047900"/>
            </a:xfrm>
            <a:prstGeom prst="roundRect">
              <a:avLst>
                <a:gd name="adj" fmla="val 10909"/>
              </a:avLst>
            </a:prstGeom>
            <a:solidFill>
              <a:srgbClr val="142948"/>
            </a:solidFill>
            <a:ln w="12700" cap="flat" cmpd="sng">
              <a:solidFill>
                <a:srgbClr val="007B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1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" name="Google Shape;60;p6"/>
            <p:cNvSpPr txBox="1"/>
            <p:nvPr/>
          </p:nvSpPr>
          <p:spPr>
            <a:xfrm>
              <a:off x="708759" y="1313218"/>
              <a:ext cx="4032600" cy="87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381000" marR="0" lvl="0" indent="-3810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Thành lập 03/1991 tại Tokyo.</a:t>
              </a:r>
              <a:endPara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381000" marR="0" lvl="0" indent="-3810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Năm 2026 đạt 35 năm hoạt động.</a:t>
              </a:r>
              <a:endParaRPr sz="1900"/>
            </a:p>
            <a:p>
              <a:pPr marL="381000" marR="0" lvl="0" indent="-3810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Quy mô khoảng 50 nhân sự.</a:t>
              </a:r>
              <a:endParaRPr sz="1900"/>
            </a:p>
            <a:p>
              <a:pPr marL="381000" marR="0" lvl="0" indent="-3810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Cơ cấu 50% Nhật Bản – 50% quốc tế.</a:t>
              </a:r>
              <a:endPara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381000" marR="0" lvl="0" indent="-3810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Sản phẩm lõi: Mail-Order Ace.</a:t>
              </a:r>
              <a:endParaRPr sz="1900"/>
            </a:p>
            <a:p>
              <a:pPr marL="381000" marR="0" lvl="0" indent="-3810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Phục vụ khoảng 600 doanh nghiệp B2B/B2C.</a:t>
              </a:r>
              <a:endParaRPr sz="1900"/>
            </a:p>
          </p:txBody>
        </p:sp>
      </p:grpSp>
      <p:grpSp>
        <p:nvGrpSpPr>
          <p:cNvPr id="61" name="Google Shape;61;p6"/>
          <p:cNvGrpSpPr/>
          <p:nvPr/>
        </p:nvGrpSpPr>
        <p:grpSpPr>
          <a:xfrm>
            <a:off x="5945278" y="1639087"/>
            <a:ext cx="5224264" cy="4278366"/>
            <a:chOff x="571500" y="1238250"/>
            <a:chExt cx="4286400" cy="1047900"/>
          </a:xfrm>
        </p:grpSpPr>
        <p:sp>
          <p:nvSpPr>
            <p:cNvPr id="62" name="Google Shape;62;p6"/>
            <p:cNvSpPr/>
            <p:nvPr/>
          </p:nvSpPr>
          <p:spPr>
            <a:xfrm>
              <a:off x="571500" y="1238250"/>
              <a:ext cx="4286400" cy="1047900"/>
            </a:xfrm>
            <a:prstGeom prst="roundRect">
              <a:avLst>
                <a:gd name="adj" fmla="val 10909"/>
              </a:avLst>
            </a:prstGeom>
            <a:solidFill>
              <a:srgbClr val="142948"/>
            </a:solidFill>
            <a:ln w="12700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1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" name="Google Shape;63;p6"/>
            <p:cNvSpPr txBox="1"/>
            <p:nvPr/>
          </p:nvSpPr>
          <p:spPr>
            <a:xfrm>
              <a:off x="708759" y="1313218"/>
              <a:ext cx="4032600" cy="87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Thách thức</a:t>
              </a:r>
              <a:endParaRPr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381000" marR="0" lvl="0" indent="-3810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Rào cản ngôn ngữ Nhật – quốc tế.</a:t>
              </a:r>
              <a:endParaRPr sz="1900"/>
            </a:p>
            <a:p>
              <a:pPr marL="381000" marR="0" lvl="0" indent="-3810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Văn hóa phê duyệt thủ công bằng Hanko.</a:t>
              </a:r>
              <a:endParaRPr sz="1900"/>
            </a:p>
            <a:p>
              <a:pPr marL="381000" marR="0" lvl="0" indent="-3810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Quy trình cũ làm tăng Lead Time.</a:t>
              </a:r>
              <a:endParaRPr sz="1900"/>
            </a:p>
            <a:p>
              <a:pPr marL="381000" marR="0" lvl="0" indent="-3810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Xung đột giữa tư duy Agile và quy trình phê duyệt truyền thống.</a:t>
              </a:r>
              <a:endPara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4" name="Google Shape;64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/>
          <p:nvPr/>
        </p:nvSpPr>
        <p:spPr>
          <a:xfrm>
            <a:off x="0" y="6350000"/>
            <a:ext cx="12192000" cy="507900"/>
          </a:xfrm>
          <a:prstGeom prst="rect">
            <a:avLst/>
          </a:prstGeom>
          <a:solidFill>
            <a:srgbClr val="14294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" name="Google Shape;71;p7"/>
          <p:cNvCxnSpPr/>
          <p:nvPr/>
        </p:nvCxnSpPr>
        <p:spPr>
          <a:xfrm>
            <a:off x="762000" y="635000"/>
            <a:ext cx="0" cy="507900"/>
          </a:xfrm>
          <a:prstGeom prst="straightConnector1">
            <a:avLst/>
          </a:prstGeom>
          <a:solidFill>
            <a:srgbClr val="FFFFFF"/>
          </a:solidFill>
          <a:ln w="50800" cap="flat" cmpd="sng">
            <a:solidFill>
              <a:srgbClr val="007B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" name="Google Shape;72;p7"/>
          <p:cNvSpPr txBox="1"/>
          <p:nvPr/>
        </p:nvSpPr>
        <p:spPr>
          <a:xfrm>
            <a:off x="1016000" y="571500"/>
            <a:ext cx="101601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US" sz="37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Sơ đồ cơ cấu tổ chức</a:t>
            </a:r>
            <a:endParaRPr sz="37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7"/>
          <p:cNvSpPr txBox="1"/>
          <p:nvPr/>
        </p:nvSpPr>
        <p:spPr>
          <a:xfrm>
            <a:off x="762000" y="224627"/>
            <a:ext cx="3534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007B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01. Giới thiệu chung</a:t>
            </a:r>
            <a:endParaRPr sz="1900" b="0" i="0" u="none" strike="noStrike" cap="none">
              <a:solidFill>
                <a:srgbClr val="007B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" name="Google Shape;74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45011" y="1326348"/>
            <a:ext cx="7501978" cy="484030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0" y="6350000"/>
            <a:ext cx="12192000" cy="507900"/>
          </a:xfrm>
          <a:prstGeom prst="rect">
            <a:avLst/>
          </a:prstGeom>
          <a:solidFill>
            <a:srgbClr val="14294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82;p8"/>
          <p:cNvCxnSpPr/>
          <p:nvPr/>
        </p:nvCxnSpPr>
        <p:spPr>
          <a:xfrm>
            <a:off x="762000" y="635000"/>
            <a:ext cx="0" cy="507900"/>
          </a:xfrm>
          <a:prstGeom prst="straightConnector1">
            <a:avLst/>
          </a:prstGeom>
          <a:solidFill>
            <a:srgbClr val="FFFFFF"/>
          </a:solidFill>
          <a:ln w="50800" cap="flat" cmpd="sng">
            <a:solidFill>
              <a:srgbClr val="007B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" name="Google Shape;83;p8"/>
          <p:cNvSpPr txBox="1"/>
          <p:nvPr/>
        </p:nvSpPr>
        <p:spPr>
          <a:xfrm>
            <a:off x="1016000" y="571500"/>
            <a:ext cx="101601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US" sz="37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Phương pháp thực hiện</a:t>
            </a:r>
            <a:endParaRPr sz="37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762000" y="224626"/>
            <a:ext cx="3603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rgbClr val="007B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01. Giới thiệu chung</a:t>
            </a:r>
            <a:endParaRPr sz="2300" b="0" i="0" u="none" strike="noStrike" cap="none">
              <a:solidFill>
                <a:srgbClr val="007B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861849" y="1206700"/>
            <a:ext cx="6236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 thập dữ liệu từ 4 nguồn chính</a:t>
            </a:r>
            <a:endParaRPr sz="19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6" name="Google Shape;86;p8"/>
          <p:cNvGrpSpPr/>
          <p:nvPr/>
        </p:nvGrpSpPr>
        <p:grpSpPr>
          <a:xfrm>
            <a:off x="1015988" y="1841895"/>
            <a:ext cx="4449283" cy="2025905"/>
            <a:chOff x="571500" y="1238250"/>
            <a:chExt cx="4286400" cy="1047900"/>
          </a:xfrm>
        </p:grpSpPr>
        <p:sp>
          <p:nvSpPr>
            <p:cNvPr id="87" name="Google Shape;87;p8"/>
            <p:cNvSpPr/>
            <p:nvPr/>
          </p:nvSpPr>
          <p:spPr>
            <a:xfrm>
              <a:off x="571500" y="1238250"/>
              <a:ext cx="4286400" cy="1047900"/>
            </a:xfrm>
            <a:prstGeom prst="roundRect">
              <a:avLst>
                <a:gd name="adj" fmla="val 10909"/>
              </a:avLst>
            </a:prstGeom>
            <a:solidFill>
              <a:srgbClr val="142948"/>
            </a:solidFill>
            <a:ln w="12700" cap="flat" cmpd="sng">
              <a:solidFill>
                <a:srgbClr val="007B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1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" name="Google Shape;88;p8"/>
            <p:cNvSpPr txBox="1"/>
            <p:nvPr/>
          </p:nvSpPr>
          <p:spPr>
            <a:xfrm>
              <a:off x="708759" y="1313218"/>
              <a:ext cx="4032600" cy="87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57200" marR="0" lvl="0" indent="-46355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AutoNum type="arabicPeriod"/>
              </a:pPr>
              <a:r>
                <a:rPr lang="en-US" sz="2700" b="1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Phỏng vấn</a:t>
              </a:r>
              <a:endParaRPr sz="2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381000" marR="0" lvl="0" indent="-3810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Trưởng CSKH.</a:t>
              </a:r>
              <a:endPara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381000" marR="0" lvl="0" indent="-3810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Trưởng bộ phận Phát triển phần mềm.</a:t>
              </a:r>
              <a:endPara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1015985" y="4021841"/>
            <a:ext cx="4449283" cy="2025905"/>
            <a:chOff x="571500" y="1238250"/>
            <a:chExt cx="4286400" cy="1047900"/>
          </a:xfrm>
        </p:grpSpPr>
        <p:sp>
          <p:nvSpPr>
            <p:cNvPr id="90" name="Google Shape;90;p8"/>
            <p:cNvSpPr/>
            <p:nvPr/>
          </p:nvSpPr>
          <p:spPr>
            <a:xfrm>
              <a:off x="571500" y="1238250"/>
              <a:ext cx="4286400" cy="1047900"/>
            </a:xfrm>
            <a:prstGeom prst="roundRect">
              <a:avLst>
                <a:gd name="adj" fmla="val 10909"/>
              </a:avLst>
            </a:prstGeom>
            <a:solidFill>
              <a:srgbClr val="142948"/>
            </a:solidFill>
            <a:ln w="12700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1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" name="Google Shape;91;p8"/>
            <p:cNvSpPr txBox="1"/>
            <p:nvPr/>
          </p:nvSpPr>
          <p:spPr>
            <a:xfrm>
              <a:off x="708759" y="1313218"/>
              <a:ext cx="4032600" cy="87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3.  Tài liệu quy trình</a:t>
              </a:r>
              <a:endParaRPr sz="2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381000" marR="0" lvl="0" indent="-3810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Sổ tay nghiệp vụ.</a:t>
              </a:r>
              <a:endParaRPr sz="1900"/>
            </a:p>
            <a:p>
              <a:pPr marL="381000" marR="0" lvl="0" indent="-3810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Tài liệu vận hành.</a:t>
              </a:r>
              <a:endParaRPr sz="1900"/>
            </a:p>
          </p:txBody>
        </p:sp>
      </p:grpSp>
      <p:grpSp>
        <p:nvGrpSpPr>
          <p:cNvPr id="92" name="Google Shape;92;p8"/>
          <p:cNvGrpSpPr/>
          <p:nvPr/>
        </p:nvGrpSpPr>
        <p:grpSpPr>
          <a:xfrm>
            <a:off x="6331562" y="4003086"/>
            <a:ext cx="4449283" cy="1976759"/>
            <a:chOff x="571500" y="1238250"/>
            <a:chExt cx="4286400" cy="1047900"/>
          </a:xfrm>
        </p:grpSpPr>
        <p:sp>
          <p:nvSpPr>
            <p:cNvPr id="93" name="Google Shape;93;p8"/>
            <p:cNvSpPr/>
            <p:nvPr/>
          </p:nvSpPr>
          <p:spPr>
            <a:xfrm>
              <a:off x="571500" y="1238250"/>
              <a:ext cx="4286400" cy="1047900"/>
            </a:xfrm>
            <a:prstGeom prst="roundRect">
              <a:avLst>
                <a:gd name="adj" fmla="val 10909"/>
              </a:avLst>
            </a:prstGeom>
            <a:solidFill>
              <a:srgbClr val="142948"/>
            </a:solidFill>
            <a:ln w="12700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1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" name="Google Shape;94;p8"/>
            <p:cNvSpPr txBox="1"/>
            <p:nvPr/>
          </p:nvSpPr>
          <p:spPr>
            <a:xfrm>
              <a:off x="708759" y="1313218"/>
              <a:ext cx="4032600" cy="87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4.  Bộ câu hỏi</a:t>
              </a:r>
              <a:endParaRPr sz="2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381000" marR="0" lvl="0" indent="-3810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 câu định tính.</a:t>
              </a:r>
              <a:endPara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381000" marR="0" lvl="0" indent="-3810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 câu định lượng.</a:t>
              </a:r>
              <a:endPara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5" name="Google Shape;95;p8"/>
          <p:cNvGrpSpPr/>
          <p:nvPr/>
        </p:nvGrpSpPr>
        <p:grpSpPr>
          <a:xfrm>
            <a:off x="6331562" y="1841948"/>
            <a:ext cx="4449283" cy="1976759"/>
            <a:chOff x="571500" y="1238250"/>
            <a:chExt cx="4286400" cy="1047900"/>
          </a:xfrm>
        </p:grpSpPr>
        <p:sp>
          <p:nvSpPr>
            <p:cNvPr id="96" name="Google Shape;96;p8"/>
            <p:cNvSpPr/>
            <p:nvPr/>
          </p:nvSpPr>
          <p:spPr>
            <a:xfrm>
              <a:off x="571500" y="1238250"/>
              <a:ext cx="4286400" cy="1047900"/>
            </a:xfrm>
            <a:prstGeom prst="roundRect">
              <a:avLst>
                <a:gd name="adj" fmla="val 10909"/>
              </a:avLst>
            </a:prstGeom>
            <a:solidFill>
              <a:srgbClr val="142948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1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" name="Google Shape;97;p8"/>
            <p:cNvSpPr txBox="1"/>
            <p:nvPr/>
          </p:nvSpPr>
          <p:spPr>
            <a:xfrm>
              <a:off x="708759" y="1313218"/>
              <a:ext cx="4032600" cy="87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2.  Workshop</a:t>
              </a:r>
              <a:endParaRPr sz="1900"/>
            </a:p>
            <a:p>
              <a:pPr marL="381000" marR="0" lvl="0" indent="-3810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Xác định nút thắt.</a:t>
              </a:r>
              <a:endParaRPr sz="1900"/>
            </a:p>
            <a:p>
              <a:pPr marL="381000" marR="0" lvl="0" indent="-3810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Char char="•"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Phân tích luồng xử lý sự cố.</a:t>
              </a:r>
              <a:endParaRPr sz="1900"/>
            </a:p>
          </p:txBody>
        </p:sp>
      </p:grpSp>
      <p:sp>
        <p:nvSpPr>
          <p:cNvPr id="98" name="Google Shape;98;p8"/>
          <p:cNvSpPr txBox="1">
            <a:spLocks noGrp="1"/>
          </p:cNvSpPr>
          <p:nvPr>
            <p:ph type="sldNum" idx="12"/>
          </p:nvPr>
        </p:nvSpPr>
        <p:spPr>
          <a:xfrm>
            <a:off x="15062148" y="829016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9"/>
          <p:cNvSpPr/>
          <p:nvPr/>
        </p:nvSpPr>
        <p:spPr>
          <a:xfrm>
            <a:off x="0" y="6350000"/>
            <a:ext cx="12192000" cy="507900"/>
          </a:xfrm>
          <a:prstGeom prst="rect">
            <a:avLst/>
          </a:prstGeom>
          <a:solidFill>
            <a:srgbClr val="14294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p9"/>
          <p:cNvCxnSpPr/>
          <p:nvPr/>
        </p:nvCxnSpPr>
        <p:spPr>
          <a:xfrm>
            <a:off x="762000" y="635000"/>
            <a:ext cx="0" cy="507900"/>
          </a:xfrm>
          <a:prstGeom prst="straightConnector1">
            <a:avLst/>
          </a:prstGeom>
          <a:solidFill>
            <a:srgbClr val="FFFFFF"/>
          </a:solidFill>
          <a:ln w="50800" cap="flat" cmpd="sng">
            <a:solidFill>
              <a:srgbClr val="007B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6;p9"/>
          <p:cNvSpPr txBox="1"/>
          <p:nvPr/>
        </p:nvSpPr>
        <p:spPr>
          <a:xfrm>
            <a:off x="1016000" y="571500"/>
            <a:ext cx="101601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US" sz="37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Kiến trúc quy trình doanh nghiệp</a:t>
            </a:r>
            <a:endParaRPr sz="37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9"/>
          <p:cNvSpPr txBox="1"/>
          <p:nvPr/>
        </p:nvSpPr>
        <p:spPr>
          <a:xfrm>
            <a:off x="762000" y="224627"/>
            <a:ext cx="3467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007B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02. Kiến trúc quy trình</a:t>
            </a:r>
            <a:endParaRPr sz="1900" b="0" i="0" u="none" strike="noStrike" cap="none">
              <a:solidFill>
                <a:srgbClr val="007B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8" name="Google Shape;108;p9"/>
          <p:cNvGrpSpPr/>
          <p:nvPr/>
        </p:nvGrpSpPr>
        <p:grpSpPr>
          <a:xfrm>
            <a:off x="762037" y="1505226"/>
            <a:ext cx="5786211" cy="1364785"/>
            <a:chOff x="571500" y="1238250"/>
            <a:chExt cx="4286400" cy="1047900"/>
          </a:xfrm>
        </p:grpSpPr>
        <p:sp>
          <p:nvSpPr>
            <p:cNvPr id="109" name="Google Shape;109;p9"/>
            <p:cNvSpPr/>
            <p:nvPr/>
          </p:nvSpPr>
          <p:spPr>
            <a:xfrm>
              <a:off x="571500" y="1238250"/>
              <a:ext cx="4286400" cy="1047900"/>
            </a:xfrm>
            <a:prstGeom prst="roundRect">
              <a:avLst>
                <a:gd name="adj" fmla="val 10909"/>
              </a:avLst>
            </a:prstGeom>
            <a:solidFill>
              <a:srgbClr val="DAE8FC"/>
            </a:solidFill>
            <a:ln w="1270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 b="0" i="0" u="none" strike="noStrike" cap="none">
                <a:solidFill>
                  <a:srgbClr val="8CB5F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9"/>
            <p:cNvSpPr txBox="1"/>
            <p:nvPr/>
          </p:nvSpPr>
          <p:spPr>
            <a:xfrm>
              <a:off x="759670" y="1313218"/>
              <a:ext cx="3981600" cy="87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Management Processes</a:t>
              </a:r>
              <a:endParaRPr sz="190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M01: Quản lý rủi ro &amp; Bảo mật hệ thống</a:t>
              </a:r>
              <a:endPara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M02: Hoạch định &amp; Phê duyệt ngân sách dự án</a:t>
              </a:r>
              <a:endPara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M03: Đánh giá hiệu suất nhân sự (KPI)</a:t>
              </a:r>
              <a:endParaRPr sz="1900"/>
            </a:p>
          </p:txBody>
        </p:sp>
      </p:grpSp>
      <p:grpSp>
        <p:nvGrpSpPr>
          <p:cNvPr id="111" name="Google Shape;111;p9"/>
          <p:cNvGrpSpPr/>
          <p:nvPr/>
        </p:nvGrpSpPr>
        <p:grpSpPr>
          <a:xfrm>
            <a:off x="755030" y="3038261"/>
            <a:ext cx="5786211" cy="1364785"/>
            <a:chOff x="571500" y="1238250"/>
            <a:chExt cx="4286400" cy="1047900"/>
          </a:xfrm>
        </p:grpSpPr>
        <p:sp>
          <p:nvSpPr>
            <p:cNvPr id="112" name="Google Shape;112;p9"/>
            <p:cNvSpPr/>
            <p:nvPr/>
          </p:nvSpPr>
          <p:spPr>
            <a:xfrm>
              <a:off x="571500" y="1238250"/>
              <a:ext cx="4286400" cy="1047900"/>
            </a:xfrm>
            <a:prstGeom prst="roundRect">
              <a:avLst>
                <a:gd name="adj" fmla="val 10909"/>
              </a:avLst>
            </a:prstGeom>
            <a:solidFill>
              <a:srgbClr val="F8CECC"/>
            </a:solidFill>
            <a:ln w="12700" cap="flat" cmpd="sng">
              <a:solidFill>
                <a:srgbClr val="FF3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 b="0" i="0" u="none" strike="noStrike" cap="none">
                <a:solidFill>
                  <a:srgbClr val="8CB5F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9"/>
            <p:cNvSpPr txBox="1"/>
            <p:nvPr/>
          </p:nvSpPr>
          <p:spPr>
            <a:xfrm>
              <a:off x="708759" y="1313218"/>
              <a:ext cx="4032600" cy="87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Core Processes</a:t>
              </a:r>
              <a:endParaRPr sz="190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C01: Ký kết hợp đồng &amp; Tiếp nhận khách hàng B2B</a:t>
              </a:r>
              <a:endParaRPr sz="190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C02: Phát triển tính năng phần mềm</a:t>
              </a:r>
              <a:endPara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C03: Xử lý sự cố phần mềm</a:t>
              </a:r>
              <a:endPara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4" name="Google Shape;114;p9"/>
          <p:cNvGrpSpPr/>
          <p:nvPr/>
        </p:nvGrpSpPr>
        <p:grpSpPr>
          <a:xfrm>
            <a:off x="755029" y="4571249"/>
            <a:ext cx="5786211" cy="1497344"/>
            <a:chOff x="571500" y="1238250"/>
            <a:chExt cx="4286400" cy="1047900"/>
          </a:xfrm>
        </p:grpSpPr>
        <p:sp>
          <p:nvSpPr>
            <p:cNvPr id="115" name="Google Shape;115;p9"/>
            <p:cNvSpPr/>
            <p:nvPr/>
          </p:nvSpPr>
          <p:spPr>
            <a:xfrm>
              <a:off x="571500" y="1238250"/>
              <a:ext cx="4286400" cy="1047900"/>
            </a:xfrm>
            <a:prstGeom prst="roundRect">
              <a:avLst>
                <a:gd name="adj" fmla="val 10909"/>
              </a:avLst>
            </a:prstGeom>
            <a:solidFill>
              <a:srgbClr val="D5E8D4"/>
            </a:solidFill>
            <a:ln w="12700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 b="0" i="0" u="none" strike="noStrike" cap="none">
                <a:solidFill>
                  <a:srgbClr val="8CB5F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9"/>
            <p:cNvSpPr txBox="1"/>
            <p:nvPr/>
          </p:nvSpPr>
          <p:spPr>
            <a:xfrm>
              <a:off x="708759" y="1313218"/>
              <a:ext cx="4032600" cy="878700"/>
            </a:xfrm>
            <a:prstGeom prst="rect">
              <a:avLst/>
            </a:prstGeom>
            <a:solidFill>
              <a:srgbClr val="D5E8D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Support Processes</a:t>
              </a:r>
              <a:endParaRPr sz="190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S01: Tuyển dụng &amp; Hội nhập nhân sự quốc tế</a:t>
              </a:r>
              <a:endPara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S02: Mua sắm trang thiết bị CNTT</a:t>
              </a:r>
              <a:endParaRPr sz="190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S03: Giải quyết thắc mắc &amp; Khiếu nại</a:t>
              </a:r>
              <a:endPara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S04: Kiểm thử chất lượng phần mềm</a:t>
              </a:r>
              <a:endPara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17" name="Google Shape;1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7887" y="1505184"/>
            <a:ext cx="5150158" cy="396910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9"/>
          <p:cNvSpPr txBox="1">
            <a:spLocks noGrp="1"/>
          </p:cNvSpPr>
          <p:nvPr>
            <p:ph type="sldNum" idx="12"/>
          </p:nvPr>
        </p:nvSpPr>
        <p:spPr>
          <a:xfrm>
            <a:off x="15062148" y="829016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0" descr="A high-end, minimalist architectural background with abstract geometric lines suggesting a digital library or university hall, dark blue tones, professional and clean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0"/>
          <p:cNvSpPr/>
          <p:nvPr/>
        </p:nvSpPr>
        <p:spPr>
          <a:xfrm>
            <a:off x="1463040" y="566928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640080" y="2286000"/>
            <a:ext cx="9875400" cy="1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Quy trình Ký kết hợp đồng &amp; Onboarding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khách hàng doanh nghiệp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640080" y="41605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AR System Co., Ltd. 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 txBox="1">
            <a:spLocks noGrp="1"/>
          </p:cNvSpPr>
          <p:nvPr>
            <p:ph type="sldNum" idx="12"/>
          </p:nvPr>
        </p:nvSpPr>
        <p:spPr>
          <a:xfrm>
            <a:off x="9216991" y="632329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CHỦ THỂ QUY TRÌNH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Tác nhân tham gia quy trình, đối tượng và kết quả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" name="Google Shape;138;p11"/>
          <p:cNvGrpSpPr/>
          <p:nvPr/>
        </p:nvGrpSpPr>
        <p:grpSpPr>
          <a:xfrm>
            <a:off x="1259991" y="3586566"/>
            <a:ext cx="3931920" cy="2424554"/>
            <a:chOff x="596188" y="3575819"/>
            <a:chExt cx="3931920" cy="2424554"/>
          </a:xfrm>
        </p:grpSpPr>
        <p:sp>
          <p:nvSpPr>
            <p:cNvPr id="139" name="Google Shape;139;p11"/>
            <p:cNvSpPr/>
            <p:nvPr/>
          </p:nvSpPr>
          <p:spPr>
            <a:xfrm>
              <a:off x="596188" y="3575819"/>
              <a:ext cx="3931920" cy="2259196"/>
            </a:xfrm>
            <a:prstGeom prst="roundRect">
              <a:avLst>
                <a:gd name="adj" fmla="val 1860"/>
              </a:avLst>
            </a:prstGeom>
            <a:solidFill>
              <a:srgbClr val="1E27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1"/>
            <p:cNvSpPr/>
            <p:nvPr/>
          </p:nvSpPr>
          <p:spPr>
            <a:xfrm>
              <a:off x="916228" y="3792013"/>
              <a:ext cx="3291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E8A33D"/>
                </a:buClr>
                <a:buSzPts val="1300"/>
                <a:buFont typeface="Calibri"/>
                <a:buNone/>
              </a:pPr>
              <a:r>
                <a:rPr lang="en-US" sz="1300" b="1">
                  <a:solidFill>
                    <a:srgbClr val="E8A33D"/>
                  </a:solidFill>
                  <a:latin typeface="Calibri"/>
                  <a:ea typeface="Calibri"/>
                  <a:cs typeface="Calibri"/>
                  <a:sym typeface="Calibri"/>
                </a:rPr>
                <a:t>ĐỐI TƯỢNG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1"/>
            <p:cNvSpPr/>
            <p:nvPr/>
          </p:nvSpPr>
          <p:spPr>
            <a:xfrm>
              <a:off x="916228" y="4203493"/>
              <a:ext cx="3291840" cy="1188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Khách hàng doanh nghiệp (B2B) sử dụng dịch vụ phần mềm &amp; hạ tầng Cloud của AR System.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1"/>
            <p:cNvSpPr/>
            <p:nvPr/>
          </p:nvSpPr>
          <p:spPr>
            <a:xfrm>
              <a:off x="868679" y="4994533"/>
              <a:ext cx="329184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50"/>
                <a:buFont typeface="Calibri"/>
                <a:buNone/>
              </a:pP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3" name="Google Shape;143;p11" descr="icon_chec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93800" y="470962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1"/>
          <p:cNvSpPr/>
          <p:nvPr/>
        </p:nvSpPr>
        <p:spPr>
          <a:xfrm>
            <a:off x="6621706" y="3575819"/>
            <a:ext cx="3931920" cy="2248449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1"/>
          <p:cNvSpPr/>
          <p:nvPr/>
        </p:nvSpPr>
        <p:spPr>
          <a:xfrm>
            <a:off x="6941746" y="3792013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KẾT QUẢ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7537429" y="4675551"/>
            <a:ext cx="2339786" cy="414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Onboarding thành công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7053258" y="5005280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6913808" y="4645835"/>
            <a:ext cx="502920" cy="502920"/>
          </a:xfrm>
          <a:prstGeom prst="ellipse">
            <a:avLst/>
          </a:prstGeom>
          <a:solidFill>
            <a:srgbClr val="2E7D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9" name="Google Shape;149;p11" descr="icon_chec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34509" y="4766536"/>
            <a:ext cx="261518" cy="2615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1"/>
          <p:cNvGrpSpPr/>
          <p:nvPr/>
        </p:nvGrpSpPr>
        <p:grpSpPr>
          <a:xfrm>
            <a:off x="604214" y="1773108"/>
            <a:ext cx="10983572" cy="1877239"/>
            <a:chOff x="548639" y="1240865"/>
            <a:chExt cx="10983572" cy="1877239"/>
          </a:xfrm>
        </p:grpSpPr>
        <p:sp>
          <p:nvSpPr>
            <p:cNvPr id="151" name="Google Shape;151;p11"/>
            <p:cNvSpPr/>
            <p:nvPr/>
          </p:nvSpPr>
          <p:spPr>
            <a:xfrm>
              <a:off x="548639" y="1309878"/>
              <a:ext cx="2013509" cy="594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E2761"/>
                </a:buClr>
                <a:buSzPts val="1500"/>
                <a:buFont typeface="Cambria"/>
                <a:buNone/>
              </a:pPr>
              <a:r>
                <a:rPr lang="en-US" sz="1500" b="1">
                  <a:solidFill>
                    <a:srgbClr val="1E2761"/>
                  </a:solidFill>
                  <a:latin typeface="Cambria"/>
                  <a:ea typeface="Cambria"/>
                  <a:cs typeface="Cambria"/>
                  <a:sym typeface="Cambria"/>
                </a:rPr>
                <a:t>Khách hàng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1"/>
            <p:cNvSpPr/>
            <p:nvPr/>
          </p:nvSpPr>
          <p:spPr>
            <a:xfrm>
              <a:off x="565567" y="1879482"/>
              <a:ext cx="2013509" cy="1188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5B6472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rgbClr val="5B6472"/>
                  </a:solidFill>
                  <a:latin typeface="Calibri"/>
                  <a:ea typeface="Calibri"/>
                  <a:cs typeface="Calibri"/>
                  <a:sym typeface="Calibri"/>
                </a:rPr>
                <a:t>Ký hợp đồng, thanh toán,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5B6472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rgbClr val="5B6472"/>
                  </a:solidFill>
                  <a:latin typeface="Calibri"/>
                  <a:ea typeface="Calibri"/>
                  <a:cs typeface="Calibri"/>
                  <a:sym typeface="Calibri"/>
                </a:rPr>
                <a:t>tham gia đào tạo, nghiệm thu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1"/>
            <p:cNvSpPr/>
            <p:nvPr/>
          </p:nvSpPr>
          <p:spPr>
            <a:xfrm>
              <a:off x="2801299" y="1266444"/>
              <a:ext cx="2013509" cy="594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E2761"/>
                </a:buClr>
                <a:buSzPts val="1500"/>
                <a:buFont typeface="Cambria"/>
                <a:buNone/>
              </a:pPr>
              <a:r>
                <a:rPr lang="en-US" sz="1500" b="1">
                  <a:solidFill>
                    <a:srgbClr val="1E2761"/>
                  </a:solidFill>
                  <a:latin typeface="Cambria"/>
                  <a:ea typeface="Cambria"/>
                  <a:cs typeface="Cambria"/>
                  <a:sym typeface="Cambria"/>
                </a:rPr>
                <a:t>Bộ phận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E2761"/>
                </a:buClr>
                <a:buSzPts val="1500"/>
                <a:buFont typeface="Cambria"/>
                <a:buNone/>
              </a:pPr>
              <a:r>
                <a:rPr lang="en-US" sz="1500" b="1">
                  <a:solidFill>
                    <a:srgbClr val="1E2761"/>
                  </a:solidFill>
                  <a:latin typeface="Cambria"/>
                  <a:ea typeface="Cambria"/>
                  <a:cs typeface="Cambria"/>
                  <a:sym typeface="Cambria"/>
                </a:rPr>
                <a:t>Kinh doanh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1"/>
            <p:cNvSpPr/>
            <p:nvPr/>
          </p:nvSpPr>
          <p:spPr>
            <a:xfrm>
              <a:off x="2801298" y="1929384"/>
              <a:ext cx="2013509" cy="1188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5B6472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rgbClr val="5B6472"/>
                  </a:solidFill>
                  <a:latin typeface="Calibri"/>
                  <a:ea typeface="Calibri"/>
                  <a:cs typeface="Calibri"/>
                  <a:sym typeface="Calibri"/>
                </a:rPr>
                <a:t>Soạn thảo, đàm phán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5B6472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rgbClr val="5B6472"/>
                  </a:solidFill>
                  <a:latin typeface="Calibri"/>
                  <a:ea typeface="Calibri"/>
                  <a:cs typeface="Calibri"/>
                  <a:sym typeface="Calibri"/>
                </a:rPr>
                <a:t>và ký kết hợp đồng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1"/>
            <p:cNvSpPr/>
            <p:nvPr/>
          </p:nvSpPr>
          <p:spPr>
            <a:xfrm>
              <a:off x="5053959" y="1272159"/>
              <a:ext cx="2013509" cy="594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E2761"/>
                </a:buClr>
                <a:buSzPts val="1500"/>
                <a:buFont typeface="Cambria"/>
                <a:buNone/>
              </a:pPr>
              <a:r>
                <a:rPr lang="en-US" sz="1500" b="1">
                  <a:solidFill>
                    <a:srgbClr val="1E2761"/>
                  </a:solidFill>
                  <a:latin typeface="Cambria"/>
                  <a:ea typeface="Cambria"/>
                  <a:cs typeface="Cambria"/>
                  <a:sym typeface="Cambria"/>
                </a:rPr>
                <a:t>Bộ phận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E2761"/>
                </a:buClr>
                <a:buSzPts val="1500"/>
                <a:buFont typeface="Cambria"/>
                <a:buNone/>
              </a:pPr>
              <a:r>
                <a:rPr lang="en-US" sz="1500" b="1">
                  <a:solidFill>
                    <a:srgbClr val="1E2761"/>
                  </a:solidFill>
                  <a:latin typeface="Cambria"/>
                  <a:ea typeface="Cambria"/>
                  <a:cs typeface="Cambria"/>
                  <a:sym typeface="Cambria"/>
                </a:rPr>
                <a:t>Kế toán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1"/>
            <p:cNvSpPr/>
            <p:nvPr/>
          </p:nvSpPr>
          <p:spPr>
            <a:xfrm>
              <a:off x="5037029" y="1929384"/>
              <a:ext cx="2013509" cy="1188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5B6472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rgbClr val="5B6472"/>
                  </a:solidFill>
                  <a:latin typeface="Calibri"/>
                  <a:ea typeface="Calibri"/>
                  <a:cs typeface="Calibri"/>
                  <a:sym typeface="Calibri"/>
                </a:rPr>
                <a:t>Phát hành hoá đơn,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5B6472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rgbClr val="5B6472"/>
                  </a:solidFill>
                  <a:latin typeface="Calibri"/>
                  <a:ea typeface="Calibri"/>
                  <a:cs typeface="Calibri"/>
                  <a:sym typeface="Calibri"/>
                </a:rPr>
                <a:t>theo dõi thanh toán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1"/>
            <p:cNvSpPr/>
            <p:nvPr/>
          </p:nvSpPr>
          <p:spPr>
            <a:xfrm>
              <a:off x="7236869" y="1241298"/>
              <a:ext cx="2013509" cy="594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E2761"/>
                </a:buClr>
                <a:buSzPts val="1500"/>
                <a:buFont typeface="Cambria"/>
                <a:buNone/>
              </a:pPr>
              <a:r>
                <a:rPr lang="en-US" sz="1500" b="1">
                  <a:solidFill>
                    <a:srgbClr val="1E2761"/>
                  </a:solidFill>
                  <a:latin typeface="Cambria"/>
                  <a:ea typeface="Cambria"/>
                  <a:cs typeface="Cambria"/>
                  <a:sym typeface="Cambria"/>
                </a:rPr>
                <a:t>Kỹ sư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E2761"/>
                </a:buClr>
                <a:buSzPts val="1500"/>
                <a:buFont typeface="Cambria"/>
                <a:buNone/>
              </a:pPr>
              <a:r>
                <a:rPr lang="en-US" sz="1500" b="1">
                  <a:solidFill>
                    <a:srgbClr val="1E2761"/>
                  </a:solidFill>
                  <a:latin typeface="Cambria"/>
                  <a:ea typeface="Cambria"/>
                  <a:cs typeface="Cambria"/>
                  <a:sym typeface="Cambria"/>
                </a:rPr>
                <a:t>Hạ tầng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1"/>
            <p:cNvSpPr/>
            <p:nvPr/>
          </p:nvSpPr>
          <p:spPr>
            <a:xfrm>
              <a:off x="7272760" y="1915668"/>
              <a:ext cx="2013509" cy="1188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5B6472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rgbClr val="5B6472"/>
                  </a:solidFill>
                  <a:latin typeface="Calibri"/>
                  <a:ea typeface="Calibri"/>
                  <a:cs typeface="Calibri"/>
                  <a:sym typeface="Calibri"/>
                </a:rPr>
                <a:t>Triển khai hệ thống Cloud,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5B6472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rgbClr val="5B6472"/>
                  </a:solidFill>
                  <a:latin typeface="Calibri"/>
                  <a:ea typeface="Calibri"/>
                  <a:cs typeface="Calibri"/>
                  <a:sym typeface="Calibri"/>
                </a:rPr>
                <a:t>khắc phục sự cố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1"/>
            <p:cNvSpPr/>
            <p:nvPr/>
          </p:nvSpPr>
          <p:spPr>
            <a:xfrm>
              <a:off x="9489529" y="1265635"/>
              <a:ext cx="2013509" cy="594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E2761"/>
                </a:buClr>
                <a:buSzPts val="1500"/>
                <a:buFont typeface="Cambria"/>
                <a:buNone/>
              </a:pPr>
              <a:r>
                <a:rPr lang="en-US" sz="1500" b="1">
                  <a:solidFill>
                    <a:srgbClr val="1E2761"/>
                  </a:solidFill>
                  <a:latin typeface="Cambria"/>
                  <a:ea typeface="Cambria"/>
                  <a:cs typeface="Cambria"/>
                  <a:sym typeface="Cambria"/>
                </a:rPr>
                <a:t>Bộ phận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E2761"/>
                </a:buClr>
                <a:buSzPts val="1500"/>
                <a:buFont typeface="Cambria"/>
                <a:buNone/>
              </a:pPr>
              <a:r>
                <a:rPr lang="en-US" sz="1500" b="1">
                  <a:solidFill>
                    <a:srgbClr val="1E2761"/>
                  </a:solidFill>
                  <a:latin typeface="Cambria"/>
                  <a:ea typeface="Cambria"/>
                  <a:cs typeface="Cambria"/>
                  <a:sym typeface="Cambria"/>
                </a:rPr>
                <a:t>CSKH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1"/>
            <p:cNvSpPr/>
            <p:nvPr/>
          </p:nvSpPr>
          <p:spPr>
            <a:xfrm>
              <a:off x="9489528" y="1890884"/>
              <a:ext cx="2013509" cy="1188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5B6472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rgbClr val="5B6472"/>
                  </a:solidFill>
                  <a:latin typeface="Calibri"/>
                  <a:ea typeface="Calibri"/>
                  <a:cs typeface="Calibri"/>
                  <a:sym typeface="Calibri"/>
                </a:rPr>
                <a:t>Đào tạo, bàn giao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5B6472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rgbClr val="5B6472"/>
                  </a:solidFill>
                  <a:latin typeface="Calibri"/>
                  <a:ea typeface="Calibri"/>
                  <a:cs typeface="Calibri"/>
                  <a:sym typeface="Calibri"/>
                </a:rPr>
                <a:t>và nghiệm thu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1"/>
            <p:cNvSpPr/>
            <p:nvPr/>
          </p:nvSpPr>
          <p:spPr>
            <a:xfrm>
              <a:off x="548639" y="1241298"/>
              <a:ext cx="2066329" cy="1188720"/>
            </a:xfrm>
            <a:prstGeom prst="roundRect">
              <a:avLst>
                <a:gd name="adj" fmla="val 16667"/>
              </a:avLst>
            </a:prstGeom>
            <a:noFill/>
            <a:ln w="12700" cap="flat" cmpd="sng">
              <a:solidFill>
                <a:srgbClr val="31538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1"/>
            <p:cNvSpPr/>
            <p:nvPr/>
          </p:nvSpPr>
          <p:spPr>
            <a:xfrm>
              <a:off x="2791818" y="1250140"/>
              <a:ext cx="2066329" cy="1188720"/>
            </a:xfrm>
            <a:prstGeom prst="roundRect">
              <a:avLst>
                <a:gd name="adj" fmla="val 16667"/>
              </a:avLst>
            </a:prstGeom>
            <a:noFill/>
            <a:ln w="12700" cap="flat" cmpd="sng">
              <a:solidFill>
                <a:srgbClr val="31538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1"/>
            <p:cNvSpPr/>
            <p:nvPr/>
          </p:nvSpPr>
          <p:spPr>
            <a:xfrm>
              <a:off x="5001139" y="1240865"/>
              <a:ext cx="2066329" cy="1188720"/>
            </a:xfrm>
            <a:prstGeom prst="roundRect">
              <a:avLst>
                <a:gd name="adj" fmla="val 16667"/>
              </a:avLst>
            </a:prstGeom>
            <a:noFill/>
            <a:ln w="12700" cap="flat" cmpd="sng">
              <a:solidFill>
                <a:srgbClr val="31538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1"/>
            <p:cNvSpPr/>
            <p:nvPr/>
          </p:nvSpPr>
          <p:spPr>
            <a:xfrm>
              <a:off x="7253797" y="1249529"/>
              <a:ext cx="2066329" cy="1188720"/>
            </a:xfrm>
            <a:prstGeom prst="roundRect">
              <a:avLst>
                <a:gd name="adj" fmla="val 16667"/>
              </a:avLst>
            </a:prstGeom>
            <a:noFill/>
            <a:ln w="12700" cap="flat" cmpd="sng">
              <a:solidFill>
                <a:srgbClr val="31538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1"/>
            <p:cNvSpPr/>
            <p:nvPr/>
          </p:nvSpPr>
          <p:spPr>
            <a:xfrm>
              <a:off x="9465882" y="1248165"/>
              <a:ext cx="2066329" cy="1188720"/>
            </a:xfrm>
            <a:prstGeom prst="roundRect">
              <a:avLst>
                <a:gd name="adj" fmla="val 16667"/>
              </a:avLst>
            </a:prstGeom>
            <a:noFill/>
            <a:ln w="12700" cap="flat" cmpd="sng">
              <a:solidFill>
                <a:srgbClr val="31538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11"/>
          <p:cNvSpPr txBox="1">
            <a:spLocks noGrp="1"/>
          </p:cNvSpPr>
          <p:nvPr>
            <p:ph type="sldNum" idx="12"/>
          </p:nvPr>
        </p:nvSpPr>
        <p:spPr>
          <a:xfrm>
            <a:off x="9168864" y="62562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TỔNG QUAN LUỒNG XỬ LÝ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Mô tả quy trình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1690918" y="1738274"/>
            <a:ext cx="1051560" cy="10515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2" descr="icon_sig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43292" y="1990648"/>
            <a:ext cx="546811" cy="54681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2"/>
          <p:cNvSpPr/>
          <p:nvPr/>
        </p:nvSpPr>
        <p:spPr>
          <a:xfrm>
            <a:off x="1370878" y="2926994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Soạn thảo &amp;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ký hợp đồng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12"/>
          <p:cNvCxnSpPr/>
          <p:nvPr/>
        </p:nvCxnSpPr>
        <p:spPr>
          <a:xfrm>
            <a:off x="2797342" y="2264054"/>
            <a:ext cx="393192" cy="0"/>
          </a:xfrm>
          <a:prstGeom prst="straightConnector1">
            <a:avLst/>
          </a:prstGeom>
          <a:noFill/>
          <a:ln w="19050" cap="flat" cmpd="sng">
            <a:solidFill>
              <a:srgbClr val="5B647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8" name="Google Shape;178;p12"/>
          <p:cNvSpPr/>
          <p:nvPr/>
        </p:nvSpPr>
        <p:spPr>
          <a:xfrm>
            <a:off x="3245398" y="1738274"/>
            <a:ext cx="1051560" cy="10515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9" name="Google Shape;179;p12" descr="icon_mone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97772" y="1990648"/>
            <a:ext cx="546811" cy="54681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2"/>
          <p:cNvSpPr/>
          <p:nvPr/>
        </p:nvSpPr>
        <p:spPr>
          <a:xfrm>
            <a:off x="2925358" y="2926994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Thanh toán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12"/>
          <p:cNvCxnSpPr/>
          <p:nvPr/>
        </p:nvCxnSpPr>
        <p:spPr>
          <a:xfrm>
            <a:off x="4351822" y="2264054"/>
            <a:ext cx="393192" cy="0"/>
          </a:xfrm>
          <a:prstGeom prst="straightConnector1">
            <a:avLst/>
          </a:prstGeom>
          <a:noFill/>
          <a:ln w="19050" cap="flat" cmpd="sng">
            <a:solidFill>
              <a:srgbClr val="5B647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2" name="Google Shape;182;p12"/>
          <p:cNvSpPr/>
          <p:nvPr/>
        </p:nvSpPr>
        <p:spPr>
          <a:xfrm>
            <a:off x="4799878" y="1738274"/>
            <a:ext cx="1051560" cy="10515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3" name="Google Shape;183;p12" descr="icon_clou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52252" y="1990648"/>
            <a:ext cx="546811" cy="54681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2"/>
          <p:cNvSpPr/>
          <p:nvPr/>
        </p:nvSpPr>
        <p:spPr>
          <a:xfrm>
            <a:off x="4479838" y="2926994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Triển khai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hạ tầng Cloud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12"/>
          <p:cNvCxnSpPr/>
          <p:nvPr/>
        </p:nvCxnSpPr>
        <p:spPr>
          <a:xfrm>
            <a:off x="5906302" y="2264054"/>
            <a:ext cx="393192" cy="0"/>
          </a:xfrm>
          <a:prstGeom prst="straightConnector1">
            <a:avLst/>
          </a:prstGeom>
          <a:noFill/>
          <a:ln w="19050" cap="flat" cmpd="sng">
            <a:solidFill>
              <a:srgbClr val="5B647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6" name="Google Shape;186;p12"/>
          <p:cNvSpPr/>
          <p:nvPr/>
        </p:nvSpPr>
        <p:spPr>
          <a:xfrm>
            <a:off x="6354358" y="1738274"/>
            <a:ext cx="1051560" cy="10515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7" name="Google Shape;187;p12" descr="icon_teach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06732" y="1990648"/>
            <a:ext cx="546811" cy="54681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2"/>
          <p:cNvSpPr/>
          <p:nvPr/>
        </p:nvSpPr>
        <p:spPr>
          <a:xfrm>
            <a:off x="6034318" y="2926994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Đào tạo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khách hàng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12"/>
          <p:cNvCxnSpPr/>
          <p:nvPr/>
        </p:nvCxnSpPr>
        <p:spPr>
          <a:xfrm>
            <a:off x="7460782" y="2264054"/>
            <a:ext cx="393192" cy="0"/>
          </a:xfrm>
          <a:prstGeom prst="straightConnector1">
            <a:avLst/>
          </a:prstGeom>
          <a:noFill/>
          <a:ln w="19050" cap="flat" cmpd="sng">
            <a:solidFill>
              <a:srgbClr val="5B647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0" name="Google Shape;190;p12"/>
          <p:cNvSpPr/>
          <p:nvPr/>
        </p:nvSpPr>
        <p:spPr>
          <a:xfrm>
            <a:off x="7908838" y="1738274"/>
            <a:ext cx="1051560" cy="10515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1" name="Google Shape;191;p12" descr="icon_clipboar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61212" y="1990648"/>
            <a:ext cx="546811" cy="54681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2"/>
          <p:cNvSpPr/>
          <p:nvPr/>
        </p:nvSpPr>
        <p:spPr>
          <a:xfrm>
            <a:off x="7588798" y="2926994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Nghiệm thu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12"/>
          <p:cNvCxnSpPr/>
          <p:nvPr/>
        </p:nvCxnSpPr>
        <p:spPr>
          <a:xfrm>
            <a:off x="9015262" y="2264054"/>
            <a:ext cx="393192" cy="0"/>
          </a:xfrm>
          <a:prstGeom prst="straightConnector1">
            <a:avLst/>
          </a:prstGeom>
          <a:noFill/>
          <a:ln w="19050" cap="flat" cmpd="sng">
            <a:solidFill>
              <a:srgbClr val="5B647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4" name="Google Shape;194;p12"/>
          <p:cNvSpPr/>
          <p:nvPr/>
        </p:nvSpPr>
        <p:spPr>
          <a:xfrm>
            <a:off x="9463318" y="1738274"/>
            <a:ext cx="1051560" cy="10515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5" name="Google Shape;195;p12" descr="icon_flag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692" y="1990648"/>
            <a:ext cx="546811" cy="54681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2"/>
          <p:cNvSpPr/>
          <p:nvPr/>
        </p:nvSpPr>
        <p:spPr>
          <a:xfrm>
            <a:off x="9143278" y="2926994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Kích hoạt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chính thức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831382" y="3704234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Khách hàng chấp nhận dịch vụ → Kinh doanh soạn &amp; ký hợp đồng → Kế toán thu tiền → Hạ tầng triển khai và CSKH soạn tài liệu → đào tạo → nghiệm thu &amp; kích hoạt.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1073698" y="4618634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AA6BF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2"/>
          <p:cNvSpPr/>
          <p:nvPr/>
        </p:nvSpPr>
        <p:spPr>
          <a:xfrm>
            <a:off x="1210858" y="4618634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26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2216698" y="4618634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hoạt động (activity)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4548418" y="4618634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AA6BF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2"/>
          <p:cNvSpPr/>
          <p:nvPr/>
        </p:nvSpPr>
        <p:spPr>
          <a:xfrm>
            <a:off x="4685578" y="4618634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5691418" y="4618634"/>
            <a:ext cx="1604531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làn (bộ phận + khách hàng)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8023138" y="4618634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AA6BF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2"/>
          <p:cNvSpPr/>
          <p:nvPr/>
        </p:nvSpPr>
        <p:spPr>
          <a:xfrm>
            <a:off x="8160298" y="4618634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9166138" y="4618634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cổng điều kiện XOR/AND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 txBox="1">
            <a:spLocks noGrp="1"/>
          </p:cNvSpPr>
          <p:nvPr>
            <p:ph type="sldNum" idx="12"/>
          </p:nvPr>
        </p:nvSpPr>
        <p:spPr>
          <a:xfrm>
            <a:off x="9168864" y="62562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TỔNG QUAN LUỒNG XỬ LÝ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Sơ đồ BPMN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822960" y="443484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876" y="1161287"/>
            <a:ext cx="11828346" cy="471540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3"/>
          <p:cNvSpPr txBox="1">
            <a:spLocks noGrp="1"/>
          </p:cNvSpPr>
          <p:nvPr>
            <p:ph type="sldNum" idx="12"/>
          </p:nvPr>
        </p:nvSpPr>
        <p:spPr>
          <a:xfrm>
            <a:off x="9168864" y="62562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THU THẬP DỮ LIỆU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Phỏng vấn các bên liên quan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745236" y="1563624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AA6BF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4"/>
          <p:cNvSpPr/>
          <p:nvPr/>
        </p:nvSpPr>
        <p:spPr>
          <a:xfrm>
            <a:off x="1110996" y="1929384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14" descr="icon_qlis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6561" y="2104949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4"/>
          <p:cNvSpPr/>
          <p:nvPr/>
        </p:nvSpPr>
        <p:spPr>
          <a:xfrm>
            <a:off x="2025396" y="1929384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Câu hỏi định tính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2025396" y="2276856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 câu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1110996" y="2935224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 câu có cấu trúc  +  5 câu không cấu trúc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14"/>
          <p:cNvCxnSpPr/>
          <p:nvPr/>
        </p:nvCxnSpPr>
        <p:spPr>
          <a:xfrm>
            <a:off x="1110996" y="3392424"/>
            <a:ext cx="4389120" cy="0"/>
          </a:xfrm>
          <a:prstGeom prst="straightConnector1">
            <a:avLst/>
          </a:prstGeom>
          <a:noFill/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3" name="Google Shape;233;p14"/>
          <p:cNvSpPr/>
          <p:nvPr/>
        </p:nvSpPr>
        <p:spPr>
          <a:xfrm>
            <a:off x="1110996" y="3529584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Ví dụ: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1110996" y="3849624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62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Anh/chị đánh giá mức độ rõ ràng của các điều khoản hợp đồng hiện tại như thế nào? (Rất rõ ràng / Rõ ràng / Bình thường / Chưa rõ ràng / Không rõ ràng)</a:t>
            </a:r>
            <a:endParaRPr/>
          </a:p>
          <a:p>
            <a:pPr marL="342900" marR="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62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Theo anh/chị, đâu là bước gây khó khăn hoặc mất nhiều thời gian nhất trong quy trình hiện tại? Vì sao?</a:t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6323076" y="1563624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AA6BF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4"/>
          <p:cNvSpPr/>
          <p:nvPr/>
        </p:nvSpPr>
        <p:spPr>
          <a:xfrm>
            <a:off x="6688836" y="1929384"/>
            <a:ext cx="731520" cy="7315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7" name="Google Shape;237;p14" descr="icon_qchar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64401" y="2104949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4"/>
          <p:cNvSpPr/>
          <p:nvPr/>
        </p:nvSpPr>
        <p:spPr>
          <a:xfrm>
            <a:off x="7603236" y="1929384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Câu hỏi định lượng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7603236" y="2276856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 câu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6688836" y="2935224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 i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5 câu có cấu trúc  +  5 câu không cấu trúc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14"/>
          <p:cNvCxnSpPr/>
          <p:nvPr/>
        </p:nvCxnSpPr>
        <p:spPr>
          <a:xfrm>
            <a:off x="6688836" y="3392424"/>
            <a:ext cx="4389120" cy="0"/>
          </a:xfrm>
          <a:prstGeom prst="straightConnector1">
            <a:avLst/>
          </a:prstGeom>
          <a:noFill/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2" name="Google Shape;242;p14"/>
          <p:cNvSpPr/>
          <p:nvPr/>
        </p:nvSpPr>
        <p:spPr>
          <a:xfrm>
            <a:off x="6688836" y="3529584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Ví dụ: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6688836" y="3704389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62E"/>
              </a:buClr>
              <a:buSzPts val="1200"/>
              <a:buFont typeface="Calibri"/>
              <a:buChar char="•"/>
            </a:pP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Thời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gian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trung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bình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từ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khi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gửi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hợp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đồng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đến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khi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khách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hàng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ký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kết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là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bao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lâu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? (&lt;3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ngày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/ 3-5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ngày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/ 6-10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ngày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/ &gt;10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ngày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342900" marR="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62E"/>
              </a:buClr>
              <a:buSzPts val="1200"/>
              <a:buFont typeface="Calibri"/>
              <a:buChar char="•"/>
            </a:pP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Trung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bình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mỗi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tháng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có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bao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nhiêu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hợp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đồng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được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ký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kết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thành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công</a:t>
            </a:r>
            <a:r>
              <a:rPr lang="en-US" sz="1200" dirty="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dirty="0"/>
          </a:p>
        </p:txBody>
      </p:sp>
      <p:sp>
        <p:nvSpPr>
          <p:cNvPr id="244" name="Google Shape;244;p14"/>
          <p:cNvSpPr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Đối tượng phỏng vấn: Khách hàng, Kinh doanh, Kế toán, Hạ tầng, CSKH  —  tổng cộng 20 câu hỏi khảo sát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 txBox="1">
            <a:spLocks noGrp="1"/>
          </p:cNvSpPr>
          <p:nvPr>
            <p:ph type="sldNum" idx="12"/>
          </p:nvPr>
        </p:nvSpPr>
        <p:spPr>
          <a:xfrm>
            <a:off x="9168864" y="62562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PHÂN TÍCH QUY TRÌNH (1/2)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Phân tích định tính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548640" y="1828800"/>
            <a:ext cx="3310128" cy="443484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AA6BF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5" name="Google Shape;255;p15" descr="icon_balanc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606" y="224576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5"/>
          <p:cNvSpPr/>
          <p:nvPr/>
        </p:nvSpPr>
        <p:spPr>
          <a:xfrm>
            <a:off x="1554480" y="2103120"/>
            <a:ext cx="202996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Giá trị gia tăng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822960" y="2926080"/>
            <a:ext cx="128016" cy="365760"/>
          </a:xfrm>
          <a:prstGeom prst="rect">
            <a:avLst/>
          </a:prstGeom>
          <a:solidFill>
            <a:srgbClr val="2E7D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5"/>
          <p:cNvSpPr/>
          <p:nvPr/>
        </p:nvSpPr>
        <p:spPr>
          <a:xfrm>
            <a:off x="1051560" y="2880360"/>
            <a:ext cx="21214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2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VA — Tạo giá trị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3172968" y="2852928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E7D46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2E7D46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822960" y="3493008"/>
            <a:ext cx="128016" cy="3657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1051560" y="3447288"/>
            <a:ext cx="21214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2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VBA — Vận hành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3172968" y="3419856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822960" y="4059936"/>
            <a:ext cx="128016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5"/>
          <p:cNvSpPr/>
          <p:nvPr/>
        </p:nvSpPr>
        <p:spPr>
          <a:xfrm>
            <a:off x="1051560" y="4014216"/>
            <a:ext cx="21214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2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NVA — Không tạo giá trị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3172968" y="3986784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822960" y="4800600"/>
            <a:ext cx="2761488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lang="en-US" sz="1050" i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Đề xuất :</a:t>
            </a:r>
            <a:endParaRPr/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Arial"/>
              <a:buChar char="•"/>
            </a:pPr>
            <a:r>
              <a:rPr lang="en-US" sz="1100" i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Rà soát hợp đồng</a:t>
            </a:r>
            <a:endParaRPr sz="1100" i="1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Arial"/>
              <a:buChar char="•"/>
            </a:pPr>
            <a:r>
              <a:rPr lang="en-US" sz="1100" i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Tích hợp cổng thanh toán online</a:t>
            </a:r>
            <a:endParaRPr/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Arial"/>
              <a:buChar char="•"/>
            </a:pPr>
            <a:r>
              <a:rPr lang="en-US" sz="1100" i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Khảo sát lịch rảnh trước khi mời họp</a:t>
            </a:r>
            <a:endParaRPr sz="1100" i="1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Arial"/>
              <a:buChar char="•"/>
            </a:pPr>
            <a:r>
              <a:rPr lang="en-US" sz="1100" i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Bổ sung bước kiểm thử nội bộ</a:t>
            </a:r>
            <a:endParaRPr sz="1100" i="1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7" name="Google Shape;267;p15"/>
          <p:cNvGraphicFramePr/>
          <p:nvPr>
            <p:extLst>
              <p:ext uri="{D42A27DB-BD31-4B8C-83A1-F6EECF244321}">
                <p14:modId xmlns:p14="http://schemas.microsoft.com/office/powerpoint/2010/main" val="754942918"/>
              </p:ext>
            </p:extLst>
          </p:nvPr>
        </p:nvGraphicFramePr>
        <p:xfrm>
          <a:off x="4133088" y="320040"/>
          <a:ext cx="7510275" cy="6478020"/>
        </p:xfrm>
        <a:graphic>
          <a:graphicData uri="http://schemas.openxmlformats.org/drawingml/2006/table">
            <a:tbl>
              <a:tblPr firstRow="1" bandRow="1">
                <a:tableStyleId>{CBC61C95-EA2D-4669-AD38-D9BFFBAD4D43}</a:tableStyleId>
              </a:tblPr>
              <a:tblGrid>
                <a:gridCol w="49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ym typeface="Calibri"/>
                        </a:rPr>
                        <a:t>STT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 err="1">
                          <a:sym typeface="Calibri"/>
                        </a:rPr>
                        <a:t>Hoạt</a:t>
                      </a:r>
                      <a:r>
                        <a:rPr lang="en-US" sz="900" u="none" strike="noStrike" cap="none" dirty="0">
                          <a:sym typeface="Calibri"/>
                        </a:rPr>
                        <a:t> </a:t>
                      </a:r>
                      <a:r>
                        <a:rPr lang="en-US" sz="900" u="none" strike="noStrike" cap="none" dirty="0" err="1">
                          <a:sym typeface="Calibri"/>
                        </a:rPr>
                        <a:t>động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ym typeface="Calibri"/>
                        </a:rPr>
                        <a:t>Phân loại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ym typeface="Calibri"/>
                        </a:rPr>
                        <a:t>Giải thích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dirty="0">
                          <a:sym typeface="Calibri"/>
                        </a:rPr>
                        <a:t>1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Chốt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bản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nháp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hợp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đồng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ym typeface="Calibri"/>
                        </a:rPr>
                        <a:t>VBA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Bước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kiểm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soát</a:t>
                      </a:r>
                      <a:r>
                        <a:rPr lang="en-US" sz="900" dirty="0">
                          <a:sym typeface="Calibri"/>
                        </a:rPr>
                        <a:t>/</a:t>
                      </a:r>
                      <a:r>
                        <a:rPr lang="en-US" sz="900" dirty="0" err="1">
                          <a:sym typeface="Calibri"/>
                        </a:rPr>
                        <a:t>quyết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định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của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khách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hàng</a:t>
                      </a:r>
                      <a:r>
                        <a:rPr lang="en-US" sz="900" dirty="0">
                          <a:sym typeface="Calibri"/>
                        </a:rPr>
                        <a:t>, </a:t>
                      </a:r>
                      <a:r>
                        <a:rPr lang="en-US" sz="900" dirty="0" err="1">
                          <a:sym typeface="Calibri"/>
                        </a:rPr>
                        <a:t>không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trực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tiếp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tạo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giá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trị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2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Soạn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thảo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bản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nháp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hợp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đồng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VA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Tạo ra nội dung hợp đồng phù hợp nhu cầu khách hàng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3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Gửi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bản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nháp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hợp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đồng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ym typeface="Calibri"/>
                        </a:rPr>
                        <a:t>VBA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Truyền tải thông tin cần thiết, không trực tiếp tạo giá trị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ym typeface="Calibri"/>
                        </a:rPr>
                        <a:t>4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Điều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chỉnh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bản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nháp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hợp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đồng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ym typeface="Calibri"/>
                        </a:rPr>
                        <a:t>NVA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Làm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lại</a:t>
                      </a:r>
                      <a:r>
                        <a:rPr lang="en-US" sz="900" dirty="0">
                          <a:sym typeface="Calibri"/>
                        </a:rPr>
                        <a:t> (rework) do </a:t>
                      </a:r>
                      <a:r>
                        <a:rPr lang="en-US" sz="900" dirty="0" err="1">
                          <a:sym typeface="Calibri"/>
                        </a:rPr>
                        <a:t>đàm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phán</a:t>
                      </a:r>
                      <a:r>
                        <a:rPr lang="en-US" sz="900" dirty="0">
                          <a:sym typeface="Calibri"/>
                        </a:rPr>
                        <a:t> ban </a:t>
                      </a:r>
                      <a:r>
                        <a:rPr lang="en-US" sz="900" dirty="0" err="1">
                          <a:sym typeface="Calibri"/>
                        </a:rPr>
                        <a:t>đầu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chưa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thống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nhất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5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Ký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kết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hợp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đồng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ym typeface="Calibri"/>
                        </a:rPr>
                        <a:t>VA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Tạo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giá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trị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pháp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lý</a:t>
                      </a:r>
                      <a:r>
                        <a:rPr lang="en-US" sz="900" dirty="0">
                          <a:sym typeface="Calibri"/>
                        </a:rPr>
                        <a:t>, </a:t>
                      </a:r>
                      <a:r>
                        <a:rPr lang="en-US" sz="900" dirty="0" err="1">
                          <a:sym typeface="Calibri"/>
                        </a:rPr>
                        <a:t>khách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hàng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cần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để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tiến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hành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dịch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vụ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6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Phát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hành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hóa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đơn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VBA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Thủ tục tài chính bắt buộc, không tạo giá trị cảm nhận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7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ym typeface="Calibri"/>
                        </a:rPr>
                        <a:t>Thanh </a:t>
                      </a:r>
                      <a:r>
                        <a:rPr lang="en-US" sz="900" dirty="0" err="1">
                          <a:sym typeface="Calibri"/>
                        </a:rPr>
                        <a:t>toán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tiền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VBA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ym typeface="Calibri"/>
                        </a:rPr>
                        <a:t>Giao </a:t>
                      </a:r>
                      <a:r>
                        <a:rPr lang="en-US" sz="900" dirty="0" err="1">
                          <a:sym typeface="Calibri"/>
                        </a:rPr>
                        <a:t>dịch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tài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chính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cần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thiết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để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hoàn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tất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hợp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đồng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ym typeface="Calibri"/>
                        </a:rPr>
                        <a:t>8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Gửi</a:t>
                      </a:r>
                      <a:r>
                        <a:rPr lang="en-US" sz="900" dirty="0">
                          <a:sym typeface="Calibri"/>
                        </a:rPr>
                        <a:t> email </a:t>
                      </a:r>
                      <a:r>
                        <a:rPr lang="en-US" sz="900" dirty="0" err="1">
                          <a:sym typeface="Calibri"/>
                        </a:rPr>
                        <a:t>nhắc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nợ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ym typeface="Calibri"/>
                        </a:rPr>
                        <a:t>NVA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Phát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sinh</a:t>
                      </a:r>
                      <a:r>
                        <a:rPr lang="en-US" sz="900" dirty="0">
                          <a:sym typeface="Calibri"/>
                        </a:rPr>
                        <a:t> do </a:t>
                      </a:r>
                      <a:r>
                        <a:rPr lang="en-US" sz="900" dirty="0" err="1">
                          <a:sym typeface="Calibri"/>
                        </a:rPr>
                        <a:t>chậm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thanh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toán</a:t>
                      </a:r>
                      <a:r>
                        <a:rPr lang="en-US" sz="900" dirty="0">
                          <a:sym typeface="Calibri"/>
                        </a:rPr>
                        <a:t>, </a:t>
                      </a:r>
                      <a:r>
                        <a:rPr lang="en-US" sz="900" dirty="0" err="1">
                          <a:sym typeface="Calibri"/>
                        </a:rPr>
                        <a:t>không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tạo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giá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trị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9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Kích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hoạt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lệnh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triển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khai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kỹ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thuật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VBA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Điều phối nội bộ giữa Kế toán và Hạ tầng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10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Khởi tạo máy chủ đám mây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VA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Tạo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ra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hạ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tầng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khách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hàng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trực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tiếp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sử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dụng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11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Áp dụng cấu hình máy chủ nội địa 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VA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Đảm bảo hiệu năng phù hợp khu vực khách hàng (Nhật Bản)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12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Áp dụng cấu hình máy chủ phân tán B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VA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Đảm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bảo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hiệu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năng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phù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hợp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khu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vực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khách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hàng</a:t>
                      </a:r>
                      <a:r>
                        <a:rPr lang="en-US" sz="900" dirty="0">
                          <a:sym typeface="Calibri"/>
                        </a:rPr>
                        <a:t> (</a:t>
                      </a:r>
                      <a:r>
                        <a:rPr lang="en-US" sz="900" dirty="0" err="1">
                          <a:sym typeface="Calibri"/>
                        </a:rPr>
                        <a:t>quốc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tế</a:t>
                      </a:r>
                      <a:r>
                        <a:rPr lang="en-US" sz="900" dirty="0">
                          <a:sym typeface="Calibri"/>
                        </a:rPr>
                        <a:t>)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13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Thiết lập cơ sở dữ liệu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VA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Nền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tảng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để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khách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hàng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vận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hành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dữ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liệu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nghiệp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vụ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14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Cấp tài khoản admin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VA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Khách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hàng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cần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để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truy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cập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và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sử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dụng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hệ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thống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15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Biên soạn tài liệu hướng dẫn sử dụng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VA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Hỗ trợ khách hàng khai thác hệ thống hiệu quả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16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Gửi lời mời họp trực tuyến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VBA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Thủ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tục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điều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phối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lịch</a:t>
                      </a:r>
                      <a:r>
                        <a:rPr lang="en-US" sz="900" dirty="0">
                          <a:sym typeface="Calibri"/>
                        </a:rPr>
                        <a:t>, </a:t>
                      </a:r>
                      <a:r>
                        <a:rPr lang="en-US" sz="900" dirty="0" err="1">
                          <a:sym typeface="Calibri"/>
                        </a:rPr>
                        <a:t>không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trực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tiếp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tạo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giá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trị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17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Phản hồi email mời họp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VBA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Xác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nhận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lịch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của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khách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hàng</a:t>
                      </a:r>
                      <a:r>
                        <a:rPr lang="en-US" sz="900" dirty="0">
                          <a:sym typeface="Calibri"/>
                        </a:rPr>
                        <a:t>, </a:t>
                      </a:r>
                      <a:r>
                        <a:rPr lang="en-US" sz="900" dirty="0" err="1">
                          <a:sym typeface="Calibri"/>
                        </a:rPr>
                        <a:t>cần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thiết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để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điều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phối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ym typeface="Calibri"/>
                        </a:rPr>
                        <a:t>18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Dời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lịch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đào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tạo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ym typeface="Calibri"/>
                        </a:rPr>
                        <a:t>NVA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Làm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lại</a:t>
                      </a:r>
                      <a:r>
                        <a:rPr lang="en-US" sz="900" dirty="0">
                          <a:sym typeface="Calibri"/>
                        </a:rPr>
                        <a:t> (rework) do </a:t>
                      </a:r>
                      <a:r>
                        <a:rPr lang="en-US" sz="900" dirty="0" err="1">
                          <a:sym typeface="Calibri"/>
                        </a:rPr>
                        <a:t>lịch</a:t>
                      </a:r>
                      <a:r>
                        <a:rPr lang="en-US" sz="900" dirty="0">
                          <a:sym typeface="Calibri"/>
                        </a:rPr>
                        <a:t> ban </a:t>
                      </a:r>
                      <a:r>
                        <a:rPr lang="en-US" sz="900" dirty="0" err="1">
                          <a:sym typeface="Calibri"/>
                        </a:rPr>
                        <a:t>đầu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không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phù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hợp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19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Tổ chức họp trực tuyến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VA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Trực tiếp giúp khách hàng sử dụng được hệ thống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20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Kiểm tra gói hợp đồng có kèm VIP - SLA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VBA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Phân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loại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nội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bộ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để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phân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bổ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nguồn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lực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21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Gắn cờ Khách hàng VIP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VBA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Phân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loại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nội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bộ</a:t>
                      </a:r>
                      <a:r>
                        <a:rPr lang="en-US" sz="900" dirty="0">
                          <a:sym typeface="Calibri"/>
                        </a:rPr>
                        <a:t>, </a:t>
                      </a:r>
                      <a:r>
                        <a:rPr lang="en-US" sz="900" dirty="0" err="1">
                          <a:sym typeface="Calibri"/>
                        </a:rPr>
                        <a:t>hỗ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trợ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ưu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tiên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xử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lý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về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sau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22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Gắn cờ Khách hàng Standard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VBA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Phân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loại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nội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bộ</a:t>
                      </a:r>
                      <a:r>
                        <a:rPr lang="en-US" sz="900" dirty="0">
                          <a:sym typeface="Calibri"/>
                        </a:rPr>
                        <a:t>, </a:t>
                      </a:r>
                      <a:r>
                        <a:rPr lang="en-US" sz="900" dirty="0" err="1">
                          <a:sym typeface="Calibri"/>
                        </a:rPr>
                        <a:t>hỗ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trợ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ưu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tiên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xử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lý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về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sau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23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Xuất biên bản bàn giao nghiệm thu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VBA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Thủ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tục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pháp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lý</a:t>
                      </a:r>
                      <a:r>
                        <a:rPr lang="en-US" sz="900" dirty="0">
                          <a:sym typeface="Calibri"/>
                        </a:rPr>
                        <a:t>/</a:t>
                      </a:r>
                      <a:r>
                        <a:rPr lang="en-US" sz="900" dirty="0" err="1">
                          <a:sym typeface="Calibri"/>
                        </a:rPr>
                        <a:t>kiểm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soát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chất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lượng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bàn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giao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24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Ký biên bản nghiệm thu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VA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Xác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nhận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giá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trị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dịch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vụ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đã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bàn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giao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đúng</a:t>
                      </a:r>
                      <a:r>
                        <a:rPr lang="en-US" sz="900" dirty="0">
                          <a:sym typeface="Calibri"/>
                        </a:rPr>
                        <a:t> cam </a:t>
                      </a:r>
                      <a:r>
                        <a:rPr lang="en-US" sz="900" dirty="0" err="1">
                          <a:sym typeface="Calibri"/>
                        </a:rPr>
                        <a:t>kết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ym typeface="Calibri"/>
                        </a:rPr>
                        <a:t>25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Khắc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phục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lỗi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ym typeface="Calibri"/>
                        </a:rPr>
                        <a:t>NVA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Làm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lại</a:t>
                      </a:r>
                      <a:r>
                        <a:rPr lang="en-US" sz="900" dirty="0">
                          <a:sym typeface="Calibri"/>
                        </a:rPr>
                        <a:t> (rework) do </a:t>
                      </a:r>
                      <a:r>
                        <a:rPr lang="en-US" sz="900" dirty="0" err="1">
                          <a:sym typeface="Calibri"/>
                        </a:rPr>
                        <a:t>hệ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thống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chưa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đạt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yêu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cầu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nghiệm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thu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37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26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Kích hoạt tài khoản chính thức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ym typeface="Calibri"/>
                        </a:rPr>
                        <a:t>VA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sym typeface="Calibri"/>
                        </a:rPr>
                        <a:t>Khách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hàng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chính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thức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được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sử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dụng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dịch</a:t>
                      </a:r>
                      <a:r>
                        <a:rPr lang="en-US" sz="900" dirty="0">
                          <a:sym typeface="Calibri"/>
                        </a:rPr>
                        <a:t> </a:t>
                      </a:r>
                      <a:r>
                        <a:rPr lang="en-US" sz="900" dirty="0" err="1">
                          <a:sym typeface="Calibri"/>
                        </a:rPr>
                        <a:t>vụ</a:t>
                      </a:r>
                      <a:endParaRPr sz="9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4825" marR="24825" marT="19875" marB="19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268" name="Google Shape;268;p15"/>
          <p:cNvSpPr txBox="1">
            <a:spLocks noGrp="1"/>
          </p:cNvSpPr>
          <p:nvPr>
            <p:ph type="sldNum" idx="12"/>
          </p:nvPr>
        </p:nvSpPr>
        <p:spPr>
          <a:xfrm>
            <a:off x="9174480" y="62636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12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 dirty="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PHÂN TÍCH QUY TRÌNH (1/2)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Phân</a:t>
            </a:r>
            <a:r>
              <a:rPr lang="en-US" sz="2800" b="1" dirty="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800" b="1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tích</a:t>
            </a:r>
            <a:r>
              <a:rPr lang="en-US" sz="2800" b="1" dirty="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800" b="1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định</a:t>
            </a:r>
            <a:r>
              <a:rPr lang="en-US" sz="2800" b="1" dirty="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800" b="1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tính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2070708" y="1408176"/>
            <a:ext cx="3310128" cy="443484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AA6BF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7" name="Google Shape;277;p16" descr="icon_trash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87674" y="1825142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6"/>
          <p:cNvSpPr/>
          <p:nvPr/>
        </p:nvSpPr>
        <p:spPr>
          <a:xfrm>
            <a:off x="2796741" y="1682496"/>
            <a:ext cx="2120947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Phân</a:t>
            </a:r>
            <a:r>
              <a:rPr lang="en-US" sz="1500" b="1" dirty="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1500" b="1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tích</a:t>
            </a:r>
            <a:r>
              <a:rPr lang="en-US" sz="1500" b="1" dirty="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1500" b="1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lãng</a:t>
            </a:r>
            <a:r>
              <a:rPr lang="en-US" sz="1500" b="1" dirty="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1500" b="1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phí</a:t>
            </a:r>
            <a:endParaRPr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2345028" y="2152497"/>
            <a:ext cx="2761488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Move</a:t>
            </a:r>
            <a:endParaRPr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2345028" y="2381098"/>
            <a:ext cx="2761488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Hợp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đồng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luân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chuyển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qua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lại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giữa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Kinh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doanh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và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Khách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hàng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khi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chỉnh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sửa</a:t>
            </a:r>
            <a:endParaRPr sz="1200" dirty="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Thông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tin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triển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khai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phải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qua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Kế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toán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rồi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mới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tới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Hạ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tầng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2341547" y="3268066"/>
            <a:ext cx="2761488" cy="261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Hold</a:t>
            </a:r>
            <a:endParaRPr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2345028" y="4148632"/>
            <a:ext cx="2761488" cy="261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Chờ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khách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hàng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phản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hồi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hợp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đồng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(2-4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ngày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Chờ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thanh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toán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trước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khi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kích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hoạt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kỹ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thuật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(5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ngày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Chờ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khách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hàng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xác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nhận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lịch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đào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tạo</a:t>
            </a:r>
            <a:endParaRPr sz="1200"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Chờ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khách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hàng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phản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hồi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biên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bản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nghiệm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thu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2345028" y="5029199"/>
            <a:ext cx="2761488" cy="29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Overdo</a:t>
            </a:r>
            <a:endParaRPr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2345028" y="5150815"/>
            <a:ext cx="276148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Soạn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tài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liệu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thủ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công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nhắc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nợ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dư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thừa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6811165" y="1408176"/>
            <a:ext cx="3310128" cy="4434840"/>
          </a:xfrm>
          <a:prstGeom prst="roundRect">
            <a:avLst>
              <a:gd name="adj" fmla="val 2210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6"/>
          <p:cNvSpPr/>
          <p:nvPr/>
        </p:nvSpPr>
        <p:spPr>
          <a:xfrm>
            <a:off x="7426712" y="1682496"/>
            <a:ext cx="2420261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Nguyên nhân gốc rễ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7088965" y="2213620"/>
            <a:ext cx="2761488" cy="263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•"/>
            </a:pP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Khách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hàng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chậm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phản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hồi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ảnh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hưởng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cao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nhất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•"/>
            </a:pP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Quy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trình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thiếu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SLA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nội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bộ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nhiều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rework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người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thao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tác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thủ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công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kiêm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nhiệm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•"/>
            </a:pP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Công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nghệ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chưa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tự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động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hoá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nhắc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nợ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 txBox="1">
            <a:spLocks noGrp="1"/>
          </p:cNvSpPr>
          <p:nvPr>
            <p:ph type="sldNum" idx="12"/>
          </p:nvPr>
        </p:nvSpPr>
        <p:spPr>
          <a:xfrm>
            <a:off x="9168864" y="62562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PHÂN TÍCH QUY TRÌNH (1/2)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Phân tích các bên liên quan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0355" y="1408176"/>
            <a:ext cx="8411289" cy="473691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7"/>
          <p:cNvSpPr txBox="1">
            <a:spLocks noGrp="1"/>
          </p:cNvSpPr>
          <p:nvPr>
            <p:ph type="sldNum" idx="12"/>
          </p:nvPr>
        </p:nvSpPr>
        <p:spPr>
          <a:xfrm>
            <a:off x="9168864" y="62562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PHÂN TÍCH QUY TRÌNH (2/2)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Phân tích thời gian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525" y="1477780"/>
            <a:ext cx="11846949" cy="487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8"/>
          <p:cNvSpPr txBox="1">
            <a:spLocks noGrp="1"/>
          </p:cNvSpPr>
          <p:nvPr>
            <p:ph type="sldNum" idx="12"/>
          </p:nvPr>
        </p:nvSpPr>
        <p:spPr>
          <a:xfrm>
            <a:off x="9168864" y="62562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PHÂN TÍCH QUY TRÌNH (2/2)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Phân tích định lượng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9"/>
          <p:cNvSpPr/>
          <p:nvPr/>
        </p:nvSpPr>
        <p:spPr>
          <a:xfrm>
            <a:off x="630936" y="18745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AA6BF">
                <a:alpha val="2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722376" y="288036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11,2 ngày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859536" y="338328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Lead time kỳ vọng / chu trình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4379976" y="18745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AA6BF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9"/>
          <p:cNvSpPr/>
          <p:nvPr/>
        </p:nvSpPr>
        <p:spPr>
          <a:xfrm>
            <a:off x="4471416" y="288036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9,83 ngày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4608576" y="338328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là chờ khách hàng phản hồi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9"/>
          <p:cNvSpPr/>
          <p:nvPr/>
        </p:nvSpPr>
        <p:spPr>
          <a:xfrm>
            <a:off x="8129016" y="18745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AA6BF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9"/>
          <p:cNvSpPr/>
          <p:nvPr/>
        </p:nvSpPr>
        <p:spPr>
          <a:xfrm>
            <a:off x="8220456" y="288036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12,1%</a:t>
            </a:r>
            <a:endParaRPr sz="2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8357616" y="338328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548640" y="41605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Chỉ số chất lượng (KPI) đề xuất theo dõi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548640" y="457200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9"/>
          <p:cNvSpPr/>
          <p:nvPr/>
        </p:nvSpPr>
        <p:spPr>
          <a:xfrm>
            <a:off x="731520" y="4572000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Tỷ lệ hợp đồng phải chỉnh sửa ≥ 1 lần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4709160" y="457200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lang="en-US" sz="14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≈ 30%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5943600" y="457200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9"/>
          <p:cNvSpPr/>
          <p:nvPr/>
        </p:nvSpPr>
        <p:spPr>
          <a:xfrm>
            <a:off x="6126480" y="4572000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Tỷ lệ thanh toán trễ hạn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10104120" y="457200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lang="en-US" sz="14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≈ 25%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548640" y="5230368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731520" y="523036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Tỷ lệ nghiệm thu đạt ngay lần đầu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4709160" y="5230368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lang="en-US" sz="14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≈ 80%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5943600" y="5230368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9"/>
          <p:cNvSpPr/>
          <p:nvPr/>
        </p:nvSpPr>
        <p:spPr>
          <a:xfrm>
            <a:off x="6126480" y="523036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Tỷ lệ tham gia đào tạo đúng lịch (lần đầu)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10104120" y="5230368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lang="en-US" sz="14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≈ 70%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1014761" y="2286000"/>
            <a:ext cx="26093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Cycle Time</a:t>
            </a:r>
            <a:endParaRPr/>
          </a:p>
        </p:txBody>
      </p:sp>
      <p:sp>
        <p:nvSpPr>
          <p:cNvPr id="343" name="Google Shape;343;p19"/>
          <p:cNvSpPr txBox="1"/>
          <p:nvPr/>
        </p:nvSpPr>
        <p:spPr>
          <a:xfrm>
            <a:off x="4972887" y="2278685"/>
            <a:ext cx="235346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Waiting Time</a:t>
            </a:r>
            <a:endParaRPr/>
          </a:p>
        </p:txBody>
      </p:sp>
      <p:sp>
        <p:nvSpPr>
          <p:cNvPr id="344" name="Google Shape;344;p19"/>
          <p:cNvSpPr txBox="1"/>
          <p:nvPr/>
        </p:nvSpPr>
        <p:spPr>
          <a:xfrm>
            <a:off x="8586439" y="2224332"/>
            <a:ext cx="247780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Độ hiệu quả</a:t>
            </a:r>
            <a:endParaRPr/>
          </a:p>
        </p:txBody>
      </p:sp>
      <p:sp>
        <p:nvSpPr>
          <p:cNvPr id="345" name="Google Shape;345;p19"/>
          <p:cNvSpPr txBox="1">
            <a:spLocks noGrp="1"/>
          </p:cNvSpPr>
          <p:nvPr>
            <p:ph type="sldNum" idx="12"/>
          </p:nvPr>
        </p:nvSpPr>
        <p:spPr>
          <a:xfrm>
            <a:off x="9168864" y="62562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20" descr="A high-end, minimalist architectural background with abstract geometric lines suggesting a digital library or university hall, dark blue tones, professional and clean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0"/>
          <p:cNvSpPr/>
          <p:nvPr/>
        </p:nvSpPr>
        <p:spPr>
          <a:xfrm>
            <a:off x="1463040" y="5669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640080" y="2286000"/>
            <a:ext cx="98755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Quy trình Xử lý sự cố phần mềm (Incident Management)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640080" y="41605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AR System Co., Ltd. 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 txBox="1">
            <a:spLocks noGrp="1"/>
          </p:cNvSpPr>
          <p:nvPr>
            <p:ph type="sldNum" idx="12"/>
          </p:nvPr>
        </p:nvSpPr>
        <p:spPr>
          <a:xfrm>
            <a:off x="9168864" y="62562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CHỦ THỂ QUY TRÌNH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Tác nhân tham gia quy trình, đối tượng và kết quả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1"/>
          <p:cNvSpPr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5" name="Google Shape;365;p21"/>
          <p:cNvGrpSpPr/>
          <p:nvPr/>
        </p:nvGrpSpPr>
        <p:grpSpPr>
          <a:xfrm>
            <a:off x="1259991" y="3586566"/>
            <a:ext cx="3931920" cy="2424554"/>
            <a:chOff x="596188" y="3575819"/>
            <a:chExt cx="3931920" cy="2424554"/>
          </a:xfrm>
        </p:grpSpPr>
        <p:sp>
          <p:nvSpPr>
            <p:cNvPr id="366" name="Google Shape;366;p21"/>
            <p:cNvSpPr/>
            <p:nvPr/>
          </p:nvSpPr>
          <p:spPr>
            <a:xfrm>
              <a:off x="596188" y="3575819"/>
              <a:ext cx="3931920" cy="2259196"/>
            </a:xfrm>
            <a:prstGeom prst="roundRect">
              <a:avLst>
                <a:gd name="adj" fmla="val 1860"/>
              </a:avLst>
            </a:prstGeom>
            <a:solidFill>
              <a:srgbClr val="1E27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1"/>
            <p:cNvSpPr/>
            <p:nvPr/>
          </p:nvSpPr>
          <p:spPr>
            <a:xfrm>
              <a:off x="916228" y="3792013"/>
              <a:ext cx="32918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E8A33D"/>
                </a:buClr>
                <a:buSzPts val="1300"/>
                <a:buFont typeface="Calibri"/>
                <a:buNone/>
              </a:pPr>
              <a:r>
                <a:rPr lang="en-US" sz="1300" b="1">
                  <a:solidFill>
                    <a:srgbClr val="E8A33D"/>
                  </a:solidFill>
                  <a:latin typeface="Calibri"/>
                  <a:ea typeface="Calibri"/>
                  <a:cs typeface="Calibri"/>
                  <a:sym typeface="Calibri"/>
                </a:rPr>
                <a:t>ĐỐI TƯỢNG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21"/>
            <p:cNvSpPr/>
            <p:nvPr/>
          </p:nvSpPr>
          <p:spPr>
            <a:xfrm>
              <a:off x="916228" y="4203493"/>
              <a:ext cx="3291840" cy="11887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Khách hàng doanh nghiệp (B2B) đang gặp gián đoạn khi sử dụng hệ thống phần mềm Ace của AR System.</a:t>
              </a:r>
              <a:endParaRPr/>
            </a:p>
          </p:txBody>
        </p:sp>
        <p:sp>
          <p:nvSpPr>
            <p:cNvPr id="369" name="Google Shape;369;p21"/>
            <p:cNvSpPr/>
            <p:nvPr/>
          </p:nvSpPr>
          <p:spPr>
            <a:xfrm>
              <a:off x="868679" y="4994533"/>
              <a:ext cx="329184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50"/>
                <a:buFont typeface="Calibri"/>
                <a:buNone/>
              </a:pP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0" name="Google Shape;370;p21" descr="icon_chec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93800" y="470962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1"/>
          <p:cNvSpPr/>
          <p:nvPr/>
        </p:nvSpPr>
        <p:spPr>
          <a:xfrm>
            <a:off x="6621706" y="3575819"/>
            <a:ext cx="3931920" cy="2248449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1"/>
          <p:cNvSpPr/>
          <p:nvPr/>
        </p:nvSpPr>
        <p:spPr>
          <a:xfrm>
            <a:off x="6941746" y="3792013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KẾT QUẢ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1"/>
          <p:cNvSpPr/>
          <p:nvPr/>
        </p:nvSpPr>
        <p:spPr>
          <a:xfrm>
            <a:off x="7537428" y="4675551"/>
            <a:ext cx="2947119" cy="50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Sự cố được khắc phục (Hotfix), khôi phục hệ thống.</a:t>
            </a:r>
            <a:endParaRPr/>
          </a:p>
        </p:txBody>
      </p:sp>
      <p:sp>
        <p:nvSpPr>
          <p:cNvPr id="374" name="Google Shape;374;p21"/>
          <p:cNvSpPr/>
          <p:nvPr/>
        </p:nvSpPr>
        <p:spPr>
          <a:xfrm>
            <a:off x="7053258" y="5005280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6913808" y="4645835"/>
            <a:ext cx="502920" cy="502920"/>
          </a:xfrm>
          <a:prstGeom prst="ellipse">
            <a:avLst/>
          </a:prstGeom>
          <a:solidFill>
            <a:srgbClr val="2E7D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6" name="Google Shape;376;p21" descr="icon_chec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34509" y="4766536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1"/>
          <p:cNvSpPr/>
          <p:nvPr/>
        </p:nvSpPr>
        <p:spPr>
          <a:xfrm>
            <a:off x="1532486" y="1782397"/>
            <a:ext cx="2013509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Khách hàng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1549414" y="2208133"/>
            <a:ext cx="2013509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Báo lỗi hệ thống, nhận kết quả &amp; nghiệm thu</a:t>
            </a:r>
            <a:endParaRPr sz="110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6011396" y="1685321"/>
            <a:ext cx="2039920" cy="65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Lập trình viên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1"/>
          <p:cNvSpPr/>
          <p:nvPr/>
        </p:nvSpPr>
        <p:spPr>
          <a:xfrm>
            <a:off x="6020876" y="2258035"/>
            <a:ext cx="2013509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Điều tra nguyên nhân &amp; viết mã vá lỗi (Hotfix)</a:t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8279874" y="1713817"/>
            <a:ext cx="1954351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Ban Giám đốc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1"/>
          <p:cNvSpPr/>
          <p:nvPr/>
        </p:nvSpPr>
        <p:spPr>
          <a:xfrm>
            <a:off x="8256607" y="2244319"/>
            <a:ext cx="2013509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Kiểm duyệt rủi ro &amp; đóng mộc Hanko</a:t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3763758" y="1729340"/>
            <a:ext cx="2013509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Bộ phận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CSKH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3763757" y="2210721"/>
            <a:ext cx="2013509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Tiếp nhận, phân loại &amp; dịch thuật thủ công</a:t>
            </a:r>
            <a:endParaRPr sz="110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1532486" y="1713817"/>
            <a:ext cx="2066329" cy="118872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5984986" y="1713384"/>
            <a:ext cx="2066329" cy="118872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1"/>
          <p:cNvSpPr/>
          <p:nvPr/>
        </p:nvSpPr>
        <p:spPr>
          <a:xfrm>
            <a:off x="8237644" y="1722048"/>
            <a:ext cx="2066329" cy="118872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3740111" y="1711870"/>
            <a:ext cx="2066329" cy="118872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31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 txBox="1">
            <a:spLocks noGrp="1"/>
          </p:cNvSpPr>
          <p:nvPr>
            <p:ph type="sldNum" idx="12"/>
          </p:nvPr>
        </p:nvSpPr>
        <p:spPr>
          <a:xfrm>
            <a:off x="9168864" y="62562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TỔNG QUAN LUỒNG XỬ LÝ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Mô tả quy trình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2330807" y="1784908"/>
            <a:ext cx="1051560" cy="10515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2"/>
          <p:cNvSpPr/>
          <p:nvPr/>
        </p:nvSpPr>
        <p:spPr>
          <a:xfrm>
            <a:off x="2010767" y="2973628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Báo lỗi</a:t>
            </a:r>
            <a:endParaRPr sz="1150"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9" name="Google Shape;399;p22"/>
          <p:cNvCxnSpPr/>
          <p:nvPr/>
        </p:nvCxnSpPr>
        <p:spPr>
          <a:xfrm>
            <a:off x="3437231" y="2310688"/>
            <a:ext cx="393192" cy="0"/>
          </a:xfrm>
          <a:prstGeom prst="straightConnector1">
            <a:avLst/>
          </a:prstGeom>
          <a:noFill/>
          <a:ln w="19050" cap="flat" cmpd="sng">
            <a:solidFill>
              <a:srgbClr val="5B647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00" name="Google Shape;400;p22"/>
          <p:cNvSpPr/>
          <p:nvPr/>
        </p:nvSpPr>
        <p:spPr>
          <a:xfrm>
            <a:off x="3885287" y="1784908"/>
            <a:ext cx="1051560" cy="10515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2"/>
          <p:cNvSpPr/>
          <p:nvPr/>
        </p:nvSpPr>
        <p:spPr>
          <a:xfrm>
            <a:off x="3565247" y="2973628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Tiếp nhận &amp; Dịch thuật</a:t>
            </a:r>
            <a:endParaRPr sz="1150"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2" name="Google Shape;402;p22"/>
          <p:cNvCxnSpPr/>
          <p:nvPr/>
        </p:nvCxnSpPr>
        <p:spPr>
          <a:xfrm>
            <a:off x="4991711" y="2310688"/>
            <a:ext cx="393192" cy="0"/>
          </a:xfrm>
          <a:prstGeom prst="straightConnector1">
            <a:avLst/>
          </a:prstGeom>
          <a:noFill/>
          <a:ln w="19050" cap="flat" cmpd="sng">
            <a:solidFill>
              <a:srgbClr val="5B647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03" name="Google Shape;403;p22"/>
          <p:cNvSpPr/>
          <p:nvPr/>
        </p:nvSpPr>
        <p:spPr>
          <a:xfrm>
            <a:off x="5439767" y="1784908"/>
            <a:ext cx="1051560" cy="10515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2"/>
          <p:cNvSpPr/>
          <p:nvPr/>
        </p:nvSpPr>
        <p:spPr>
          <a:xfrm>
            <a:off x="5119727" y="2973628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Điều tra &amp; Vá lỗi</a:t>
            </a:r>
            <a:endParaRPr sz="1150"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5" name="Google Shape;405;p22"/>
          <p:cNvCxnSpPr/>
          <p:nvPr/>
        </p:nvCxnSpPr>
        <p:spPr>
          <a:xfrm>
            <a:off x="6546191" y="2310688"/>
            <a:ext cx="393192" cy="0"/>
          </a:xfrm>
          <a:prstGeom prst="straightConnector1">
            <a:avLst/>
          </a:prstGeom>
          <a:noFill/>
          <a:ln w="19050" cap="flat" cmpd="sng">
            <a:solidFill>
              <a:srgbClr val="5B647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06" name="Google Shape;406;p22"/>
          <p:cNvSpPr/>
          <p:nvPr/>
        </p:nvSpPr>
        <p:spPr>
          <a:xfrm>
            <a:off x="6994247" y="1784908"/>
            <a:ext cx="1051560" cy="10515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2"/>
          <p:cNvSpPr/>
          <p:nvPr/>
        </p:nvSpPr>
        <p:spPr>
          <a:xfrm>
            <a:off x="6674207" y="2973628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Phê duyệt</a:t>
            </a:r>
            <a:endParaRPr sz="1150" b="1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22"/>
          <p:cNvCxnSpPr/>
          <p:nvPr/>
        </p:nvCxnSpPr>
        <p:spPr>
          <a:xfrm>
            <a:off x="8100671" y="2310688"/>
            <a:ext cx="393192" cy="0"/>
          </a:xfrm>
          <a:prstGeom prst="straightConnector1">
            <a:avLst/>
          </a:prstGeom>
          <a:noFill/>
          <a:ln w="19050" cap="flat" cmpd="sng">
            <a:solidFill>
              <a:srgbClr val="5B647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09" name="Google Shape;409;p22"/>
          <p:cNvSpPr/>
          <p:nvPr/>
        </p:nvSpPr>
        <p:spPr>
          <a:xfrm>
            <a:off x="8580731" y="1818435"/>
            <a:ext cx="1051560" cy="10515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0" name="Google Shape;410;p22" descr="icon_fla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33105" y="2070809"/>
            <a:ext cx="546811" cy="546811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2"/>
          <p:cNvSpPr/>
          <p:nvPr/>
        </p:nvSpPr>
        <p:spPr>
          <a:xfrm>
            <a:off x="8260690" y="2950004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Đóng Ticket</a:t>
            </a:r>
            <a:endParaRPr/>
          </a:p>
        </p:txBody>
      </p:sp>
      <p:sp>
        <p:nvSpPr>
          <p:cNvPr id="412" name="Google Shape;412;p22"/>
          <p:cNvSpPr/>
          <p:nvPr/>
        </p:nvSpPr>
        <p:spPr>
          <a:xfrm>
            <a:off x="838200" y="356681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Khách hàng báo lỗi → CSKH tiếp nhận Phiếu báo lỗi và dịch thuật → Lập trình viên điều tra và vá lỗi → Phê duyệt → Cập nhật và đóng ticket.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1066800" y="4625184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AA6BF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2"/>
          <p:cNvSpPr/>
          <p:nvPr/>
        </p:nvSpPr>
        <p:spPr>
          <a:xfrm>
            <a:off x="1203960" y="4625184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2209800" y="4625184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hoạt động (activity)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2"/>
          <p:cNvSpPr/>
          <p:nvPr/>
        </p:nvSpPr>
        <p:spPr>
          <a:xfrm>
            <a:off x="4541520" y="4625184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AA6BF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2"/>
          <p:cNvSpPr/>
          <p:nvPr/>
        </p:nvSpPr>
        <p:spPr>
          <a:xfrm>
            <a:off x="4678680" y="4625184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5684520" y="4625184"/>
            <a:ext cx="157730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làn (bộ phận + khách hàng)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2"/>
          <p:cNvSpPr/>
          <p:nvPr/>
        </p:nvSpPr>
        <p:spPr>
          <a:xfrm>
            <a:off x="8016240" y="4625184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AA6BF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2"/>
          <p:cNvSpPr/>
          <p:nvPr/>
        </p:nvSpPr>
        <p:spPr>
          <a:xfrm>
            <a:off x="8153400" y="4625184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9159240" y="4625184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cổng điều kiện XOR/AND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9407" y="1989733"/>
            <a:ext cx="594360" cy="594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19475" y="2013813"/>
            <a:ext cx="594360" cy="594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37277" y="1977541"/>
            <a:ext cx="640079" cy="640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2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61824" y="2003886"/>
            <a:ext cx="587387" cy="587387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2"/>
          <p:cNvSpPr txBox="1">
            <a:spLocks noGrp="1"/>
          </p:cNvSpPr>
          <p:nvPr>
            <p:ph type="sldNum" idx="12"/>
          </p:nvPr>
        </p:nvSpPr>
        <p:spPr>
          <a:xfrm>
            <a:off x="9168864" y="62562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TỔNG QUAN LUỒNG XỬ LÝ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3"/>
          <p:cNvSpPr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Sơ đồ BPMN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3"/>
          <p:cNvSpPr/>
          <p:nvPr/>
        </p:nvSpPr>
        <p:spPr>
          <a:xfrm>
            <a:off x="822960" y="443484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6" name="Google Shape;43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37811"/>
            <a:ext cx="12192000" cy="4382378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3"/>
          <p:cNvSpPr txBox="1">
            <a:spLocks noGrp="1"/>
          </p:cNvSpPr>
          <p:nvPr>
            <p:ph type="sldNum" idx="12"/>
          </p:nvPr>
        </p:nvSpPr>
        <p:spPr>
          <a:xfrm>
            <a:off x="9168864" y="62562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4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THU THẬP DỮ LIỆU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4"/>
          <p:cNvSpPr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Phỏng vấn các bên liên quan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745236" y="182880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AA6BF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4"/>
          <p:cNvSpPr/>
          <p:nvPr/>
        </p:nvSpPr>
        <p:spPr>
          <a:xfrm>
            <a:off x="1110996" y="219456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7" name="Google Shape;447;p24" descr="icon_qlis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6561" y="237012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4"/>
          <p:cNvSpPr/>
          <p:nvPr/>
        </p:nvSpPr>
        <p:spPr>
          <a:xfrm>
            <a:off x="2025396" y="21945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Câu hỏi định tính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2025396" y="254203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 câu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4"/>
          <p:cNvSpPr/>
          <p:nvPr/>
        </p:nvSpPr>
        <p:spPr>
          <a:xfrm>
            <a:off x="1110996" y="32004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 câu có cấu trúc  +  5 câu không cấu trúc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1" name="Google Shape;451;p24"/>
          <p:cNvCxnSpPr/>
          <p:nvPr/>
        </p:nvCxnSpPr>
        <p:spPr>
          <a:xfrm>
            <a:off x="1110996" y="3657600"/>
            <a:ext cx="4389120" cy="0"/>
          </a:xfrm>
          <a:prstGeom prst="straightConnector1">
            <a:avLst/>
          </a:prstGeom>
          <a:noFill/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2" name="Google Shape;452;p24"/>
          <p:cNvSpPr/>
          <p:nvPr/>
        </p:nvSpPr>
        <p:spPr>
          <a:xfrm>
            <a:off x="1110996" y="379476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Ví dụ: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1110996" y="4114800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62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Anh/chị đánh giá mức độ rõ ràng của thông tin báo lỗi do khách hàng cung cấp như thế nào? (Rất rõ ràng / Rõ ràng / Bình thường / Chưa rõ ràng / Không rõ ràng)</a:t>
            </a:r>
            <a:endParaRPr/>
          </a:p>
          <a:p>
            <a:pPr marL="342900" marR="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62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Theo anh/chị, đâu là bước gây khó khăn hoặc mất nhiều thời gian nhất khi xử lý một lỗi khẩn cấp? Vì sao?</a:t>
            </a:r>
            <a:endParaRPr/>
          </a:p>
        </p:txBody>
      </p:sp>
      <p:sp>
        <p:nvSpPr>
          <p:cNvPr id="454" name="Google Shape;454;p24"/>
          <p:cNvSpPr/>
          <p:nvPr/>
        </p:nvSpPr>
        <p:spPr>
          <a:xfrm>
            <a:off x="6323076" y="182880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AA6BF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4"/>
          <p:cNvSpPr/>
          <p:nvPr/>
        </p:nvSpPr>
        <p:spPr>
          <a:xfrm>
            <a:off x="6688836" y="2194560"/>
            <a:ext cx="731520" cy="7315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6" name="Google Shape;456;p24" descr="icon_qchar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64401" y="237012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4"/>
          <p:cNvSpPr/>
          <p:nvPr/>
        </p:nvSpPr>
        <p:spPr>
          <a:xfrm>
            <a:off x="7603236" y="21945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Câu hỏi định lượng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/>
          <p:nvPr/>
        </p:nvSpPr>
        <p:spPr>
          <a:xfrm>
            <a:off x="7603236" y="254203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 câu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6688836" y="32004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 i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5 câu có cấu trúc  +  5 câu không cấu trúc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0" name="Google Shape;460;p24"/>
          <p:cNvCxnSpPr/>
          <p:nvPr/>
        </p:nvCxnSpPr>
        <p:spPr>
          <a:xfrm>
            <a:off x="6688836" y="3657600"/>
            <a:ext cx="4389120" cy="0"/>
          </a:xfrm>
          <a:prstGeom prst="straightConnector1">
            <a:avLst/>
          </a:prstGeom>
          <a:noFill/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1" name="Google Shape;461;p24"/>
          <p:cNvSpPr/>
          <p:nvPr/>
        </p:nvSpPr>
        <p:spPr>
          <a:xfrm>
            <a:off x="6688836" y="379476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Ví dụ: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6688836" y="4114800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62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Thời gian trung bình từ khi nhận Ticket đến khi bản vá được Deploy lên Cloud là bao lâu?</a:t>
            </a:r>
            <a:endParaRPr sz="1200">
              <a:solidFill>
                <a:srgbClr val="2226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62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Tỷ lệ mã vá lỗi phải làm lại (Rework) do không pass bài Unit Test là bao nhiêu %?</a:t>
            </a:r>
            <a:endParaRPr/>
          </a:p>
        </p:txBody>
      </p:sp>
      <p:sp>
        <p:nvSpPr>
          <p:cNvPr id="463" name="Google Shape;463;p24"/>
          <p:cNvSpPr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Đối tượng phỏng vấn: Khách hàng, Kinh doanh, Kế toán, Hạ tầng, CSKH  —  tổng cộng 20 câu hỏi khảo sát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4"/>
          <p:cNvSpPr txBox="1">
            <a:spLocks noGrp="1"/>
          </p:cNvSpPr>
          <p:nvPr>
            <p:ph type="sldNum" idx="12"/>
          </p:nvPr>
        </p:nvSpPr>
        <p:spPr>
          <a:xfrm>
            <a:off x="9168864" y="62562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5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PHÂN TÍCH QUY TRÌNH (1/2)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5"/>
          <p:cNvSpPr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Phân tích định tính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4" name="Google Shape;474;p25"/>
          <p:cNvGraphicFramePr/>
          <p:nvPr/>
        </p:nvGraphicFramePr>
        <p:xfrm>
          <a:off x="838200" y="1161288"/>
          <a:ext cx="10515600" cy="4721665"/>
        </p:xfrm>
        <a:graphic>
          <a:graphicData uri="http://schemas.openxmlformats.org/drawingml/2006/table">
            <a:tbl>
              <a:tblPr firstRow="1" bandRow="1">
                <a:noFill/>
                <a:tableStyleId>{CBC61C95-EA2D-4669-AD38-D9BFFBAD4D43}</a:tableStyleId>
              </a:tblPr>
              <a:tblGrid>
                <a:gridCol w="56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0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4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9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STT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Hoạt</a:t>
                      </a:r>
                      <a:r>
                        <a:rPr lang="en-US" sz="1400" b="0" i="0" u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400" b="0" i="0" u="none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động</a:t>
                      </a:r>
                      <a:endParaRPr sz="1400" b="0" i="0" u="none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Người thực hiện</a:t>
                      </a:r>
                      <a:endParaRPr sz="1400" b="0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Phân loại</a:t>
                      </a:r>
                      <a:endParaRPr sz="1400" b="0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Giải thích</a:t>
                      </a:r>
                      <a:endParaRPr sz="1400" b="0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dirty="0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Tiếp nhận Ticket báo lỗi</a:t>
                      </a:r>
                      <a:endParaRPr sz="1400" b="0" i="0" u="non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Bộ phận CSKH</a:t>
                      </a:r>
                      <a:endParaRPr sz="1400" b="0" i="0" u="non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BVA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Thao tác vận hành nội bộ, chuẩn bị luồng dữ liệu</a:t>
                      </a:r>
                      <a:endParaRPr sz="1400" b="0" i="0" u="non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b="0" i="0" u="non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/>
                        <a:t>Gửi</a:t>
                      </a:r>
                      <a:r>
                        <a:rPr lang="en-US" sz="1400" dirty="0"/>
                        <a:t> email </a:t>
                      </a:r>
                      <a:r>
                        <a:rPr lang="en-US" sz="1400" dirty="0" err="1"/>
                        <a:t>xác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nhận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tự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động</a:t>
                      </a:r>
                      <a:endParaRPr sz="1400" b="0" i="0" u="none" dirty="0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Hệ thống</a:t>
                      </a:r>
                      <a:endParaRPr sz="1400" b="0" i="0" u="non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BVA</a:t>
                      </a:r>
                      <a:endParaRPr sz="1400" b="1" i="0" u="non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Giúp khách hàng biết hệ thống đã ghi nhận sự cố, không tạo giá trị</a:t>
                      </a:r>
                      <a:endParaRPr sz="1400" b="0" i="0" u="non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b="0" i="0" u="non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Đọc &amp; Phân loại Ticket</a:t>
                      </a:r>
                      <a:endParaRPr sz="1400" b="0" i="0" u="non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Bộ phận CSKH</a:t>
                      </a:r>
                      <a:endParaRPr sz="1400" b="0" i="0" u="non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BVA</a:t>
                      </a:r>
                      <a:endParaRPr sz="1400" b="1" i="0" u="non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Xác định đúng tính chất lỗi và chuyển giao cho đúng bộ phận kỹ thuật</a:t>
                      </a:r>
                      <a:endParaRPr sz="1400" b="0" i="0" u="non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BE1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b="0" i="0" u="none">
                        <a:solidFill>
                          <a:srgbClr val="BE12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dirty="0" err="1">
                          <a:solidFill>
                            <a:srgbClr val="BE1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Dịch</a:t>
                      </a:r>
                      <a:r>
                        <a:rPr lang="en-US" sz="1400" b="0" i="0" u="none" dirty="0">
                          <a:solidFill>
                            <a:srgbClr val="BE1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400" b="0" i="0" u="none" dirty="0" err="1">
                          <a:solidFill>
                            <a:srgbClr val="BE1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thủ</a:t>
                      </a:r>
                      <a:r>
                        <a:rPr lang="en-US" sz="1400" b="0" i="0" u="none" dirty="0">
                          <a:solidFill>
                            <a:srgbClr val="BE1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400" b="0" i="0" u="none" dirty="0" err="1">
                          <a:solidFill>
                            <a:srgbClr val="BE1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công</a:t>
                      </a:r>
                      <a:r>
                        <a:rPr lang="en-US" sz="1400" b="0" i="0" u="none" dirty="0">
                          <a:solidFill>
                            <a:srgbClr val="BE1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400" b="0" i="0" u="none" dirty="0" err="1">
                          <a:solidFill>
                            <a:srgbClr val="BE1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Nhật</a:t>
                      </a:r>
                      <a:r>
                        <a:rPr lang="en-US" sz="1400" b="0" i="0" u="none" dirty="0">
                          <a:solidFill>
                            <a:srgbClr val="BE1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-Anh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C00000"/>
                          </a:solidFill>
                        </a:rPr>
                        <a:t>Bộ phận CSKH</a:t>
                      </a:r>
                      <a:endParaRPr sz="1400" b="0" i="0" u="none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>
                          <a:solidFill>
                            <a:srgbClr val="BE1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NVA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C00000"/>
                          </a:solidFill>
                        </a:rPr>
                        <a:t>Làm tốn thời gian, sai lệch thông tin và không mang lại giá trị gì cho khách hàng</a:t>
                      </a:r>
                      <a:endParaRPr sz="1400" b="0" i="0" u="none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1665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400" b="0" i="0" u="none">
                        <a:solidFill>
                          <a:srgbClr val="16653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1665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Điều tra &amp; Viết mã vá lỗi</a:t>
                      </a:r>
                      <a:endParaRPr sz="1400" b="0" i="0" u="none">
                        <a:solidFill>
                          <a:srgbClr val="16653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66534"/>
                          </a:solidFill>
                        </a:rPr>
                        <a:t>Lập trình viên</a:t>
                      </a:r>
                      <a:endParaRPr sz="1400" b="0" i="0" u="none">
                        <a:solidFill>
                          <a:srgbClr val="16653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>
                          <a:solidFill>
                            <a:srgbClr val="1665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1665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Trực tiếp tạo ra giải pháp khắc phục sự cố cho KH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BE1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400" b="0" i="0" u="none">
                        <a:solidFill>
                          <a:srgbClr val="BE12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BE1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Phê duyệt &amp; Đóng dấu mộc Hanko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C00000"/>
                          </a:solidFill>
                        </a:rPr>
                        <a:t>Ban Giám đốc</a:t>
                      </a:r>
                      <a:endParaRPr sz="1400" b="0" i="0" u="none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>
                          <a:solidFill>
                            <a:srgbClr val="BE1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NVA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BE12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Thủ tục giấy tờ cứng nhắc, gây thời gian chờ vô ích</a:t>
                      </a:r>
                      <a:endParaRPr sz="1400" b="0" i="0" u="none">
                        <a:solidFill>
                          <a:srgbClr val="BE123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400" b="0" i="0" u="non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Deploy lên Cloud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Lập trình viên</a:t>
                      </a:r>
                      <a:endParaRPr sz="1400" b="0" i="0" u="non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>
                          <a:solidFill>
                            <a:srgbClr val="1665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16653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Hệ thống được khôi phục, cung cấp giá trị sử dụng lại</a:t>
                      </a:r>
                      <a:endParaRPr sz="1400" b="0" i="0" u="none">
                        <a:solidFill>
                          <a:srgbClr val="16653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9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400" b="0" i="0" u="non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Cập nhật nhật ký hệ thống</a:t>
                      </a:r>
                      <a:endParaRPr sz="1400" b="0" i="0" u="non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Lập trình viên</a:t>
                      </a:r>
                      <a:endParaRPr sz="1400" b="0" i="0" u="non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BVA</a:t>
                      </a:r>
                      <a:endParaRPr sz="1400" b="1" i="0" u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Lưu lịch sử hệ thống</a:t>
                      </a:r>
                      <a:endParaRPr sz="1400" b="0" i="0" u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9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400" b="0" i="0" u="non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Đóng Ticket &amp; Phản hồi kết quả</a:t>
                      </a:r>
                      <a:endParaRPr sz="1400" b="0" i="0" u="non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Bộ phận CSKH</a:t>
                      </a:r>
                      <a:endParaRPr sz="1400" b="0" i="0" u="none">
                        <a:solidFill>
                          <a:srgbClr val="0F172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BVA</a:t>
                      </a:r>
                      <a:endParaRPr sz="1400" b="1" i="0" u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Xác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nhận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lại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với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khách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hàng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đóng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Ticket</a:t>
                      </a:r>
                      <a:endParaRPr sz="1400" b="0" i="0" u="none" dirty="0">
                        <a:solidFill>
                          <a:srgbClr val="16653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75" name="Google Shape;475;p25"/>
          <p:cNvSpPr txBox="1"/>
          <p:nvPr/>
        </p:nvSpPr>
        <p:spPr>
          <a:xfrm>
            <a:off x="774700" y="6052968"/>
            <a:ext cx="60987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Khắc phục: tích hợp AI dịch tự động; thiết lập chữ ký số.</a:t>
            </a:r>
            <a:endParaRPr sz="180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5"/>
          <p:cNvSpPr txBox="1">
            <a:spLocks noGrp="1"/>
          </p:cNvSpPr>
          <p:nvPr>
            <p:ph type="sldNum" idx="12"/>
          </p:nvPr>
        </p:nvSpPr>
        <p:spPr>
          <a:xfrm>
            <a:off x="9168864" y="62562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6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 dirty="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PHÂN TÍCH QUY TRÌNH (1/2)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6"/>
          <p:cNvSpPr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Phân</a:t>
            </a:r>
            <a:r>
              <a:rPr lang="en-US" sz="2800" b="1" dirty="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800" b="1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tích</a:t>
            </a:r>
            <a:r>
              <a:rPr lang="en-US" sz="2800" b="1" dirty="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800" b="1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định</a:t>
            </a:r>
            <a:r>
              <a:rPr lang="en-US" sz="2800" b="1" dirty="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800" b="1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tính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6"/>
          <p:cNvSpPr/>
          <p:nvPr/>
        </p:nvSpPr>
        <p:spPr>
          <a:xfrm>
            <a:off x="2070708" y="1408176"/>
            <a:ext cx="3310128" cy="443484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AA6BF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pic>
        <p:nvPicPr>
          <p:cNvPr id="485" name="Google Shape;485;p26" descr="icon_trash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87674" y="1825142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6"/>
          <p:cNvSpPr/>
          <p:nvPr/>
        </p:nvSpPr>
        <p:spPr>
          <a:xfrm>
            <a:off x="2796741" y="1682496"/>
            <a:ext cx="2120947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b="1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Phân</a:t>
            </a:r>
            <a:r>
              <a:rPr lang="en-US" b="1" dirty="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b="1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tích</a:t>
            </a:r>
            <a:r>
              <a:rPr lang="en-US" b="1" dirty="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b="1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lãng</a:t>
            </a:r>
            <a:r>
              <a:rPr lang="en-US" b="1" dirty="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b="1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phí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2345028" y="2152497"/>
            <a:ext cx="2761488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Move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2345028" y="2381098"/>
            <a:ext cx="2761488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• Thao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tác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chuyển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đổi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qua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lại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giữa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các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công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cụ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rời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rạc</a:t>
            </a:r>
            <a:endParaRPr sz="1200" dirty="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• Di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chuyển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vật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lý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để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xin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chữ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ký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đóng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dấu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2345028" y="3521644"/>
            <a:ext cx="2761488" cy="261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Hold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2345027" y="3899291"/>
            <a:ext cx="2761488" cy="261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Chờ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đóng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dấu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phê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duyệt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kéo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dài</a:t>
            </a:r>
            <a:endParaRPr sz="1200" dirty="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Chờ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chênh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lệch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múi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giờ</a:t>
            </a:r>
            <a:endParaRPr sz="1200" dirty="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2345027" y="4505834"/>
            <a:ext cx="2761488" cy="29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Overdo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2345027" y="4636297"/>
            <a:ext cx="276148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Dịch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thuật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thủ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công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lặp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đi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lặp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lại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6811165" y="1408176"/>
            <a:ext cx="3310128" cy="4434840"/>
          </a:xfrm>
          <a:prstGeom prst="roundRect">
            <a:avLst>
              <a:gd name="adj" fmla="val 2210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95" name="Google Shape;495;p26"/>
          <p:cNvSpPr/>
          <p:nvPr/>
        </p:nvSpPr>
        <p:spPr>
          <a:xfrm>
            <a:off x="7426712" y="1682496"/>
            <a:ext cx="2420261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lang="en-US" b="1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Nguyên</a:t>
            </a:r>
            <a:r>
              <a:rPr lang="en-US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nhân</a:t>
            </a:r>
            <a:r>
              <a:rPr lang="en-US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gốc</a:t>
            </a:r>
            <a:r>
              <a:rPr lang="en-US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rễ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6"/>
          <p:cNvSpPr/>
          <p:nvPr/>
        </p:nvSpPr>
        <p:spPr>
          <a:xfrm>
            <a:off x="7085484" y="2381098"/>
            <a:ext cx="2761488" cy="2014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người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rào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cản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ngôn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ngữ</a:t>
            </a:r>
            <a:endParaRPr sz="1200" dirty="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•"/>
            </a:pP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Hệ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thống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thiếu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công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cụ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hỗ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trợ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đa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ngôn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ngữ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chưa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tự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động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hóa</a:t>
            </a:r>
            <a:endParaRPr sz="1200" dirty="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Char char="•"/>
            </a:pP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Quy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trình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: rework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cao</a:t>
            </a:r>
            <a:endParaRPr sz="1200" dirty="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6"/>
          <p:cNvSpPr txBox="1">
            <a:spLocks noGrp="1"/>
          </p:cNvSpPr>
          <p:nvPr>
            <p:ph type="sldNum" idx="12"/>
          </p:nvPr>
        </p:nvSpPr>
        <p:spPr>
          <a:xfrm>
            <a:off x="9168864" y="62562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7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PHÂN TÍCH QUY TRÌNH (1/2)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7"/>
          <p:cNvSpPr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Phân tích vấn đề các bên liên quan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6" name="Google Shape;506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60232" y="1423317"/>
            <a:ext cx="8332921" cy="4709912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27"/>
          <p:cNvSpPr txBox="1">
            <a:spLocks noGrp="1"/>
          </p:cNvSpPr>
          <p:nvPr>
            <p:ph type="sldNum" idx="12"/>
          </p:nvPr>
        </p:nvSpPr>
        <p:spPr>
          <a:xfrm>
            <a:off x="9168864" y="62562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8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PHÂN TÍCH QUY TRÌNH (2/2)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8"/>
          <p:cNvSpPr/>
          <p:nvPr/>
        </p:nvSpPr>
        <p:spPr>
          <a:xfrm>
            <a:off x="548640" y="56692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Phân tích định lượng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8"/>
          <p:cNvSpPr/>
          <p:nvPr/>
        </p:nvSpPr>
        <p:spPr>
          <a:xfrm>
            <a:off x="731520" y="1693981"/>
            <a:ext cx="3587815" cy="1453262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AA6BF">
                <a:alpha val="2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8"/>
          <p:cNvSpPr/>
          <p:nvPr/>
        </p:nvSpPr>
        <p:spPr>
          <a:xfrm>
            <a:off x="822959" y="2333157"/>
            <a:ext cx="3416969" cy="41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7,2 giờ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8"/>
          <p:cNvSpPr/>
          <p:nvPr/>
        </p:nvSpPr>
        <p:spPr>
          <a:xfrm>
            <a:off x="960119" y="2746590"/>
            <a:ext cx="3128211" cy="25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Thời gian kỹ sư làm việc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8"/>
          <p:cNvSpPr/>
          <p:nvPr/>
        </p:nvSpPr>
        <p:spPr>
          <a:xfrm>
            <a:off x="4480560" y="1693980"/>
            <a:ext cx="3609474" cy="1453263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AA6BF">
                <a:alpha val="2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8"/>
          <p:cNvSpPr/>
          <p:nvPr/>
        </p:nvSpPr>
        <p:spPr>
          <a:xfrm>
            <a:off x="4571999" y="2292145"/>
            <a:ext cx="3416969" cy="4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27 giờ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8"/>
          <p:cNvSpPr/>
          <p:nvPr/>
        </p:nvSpPr>
        <p:spPr>
          <a:xfrm>
            <a:off x="4709159" y="2926144"/>
            <a:ext cx="3128211" cy="33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8"/>
          <p:cNvSpPr/>
          <p:nvPr/>
        </p:nvSpPr>
        <p:spPr>
          <a:xfrm>
            <a:off x="8229600" y="1693980"/>
            <a:ext cx="3609474" cy="1453263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9AA6BF">
                <a:alpha val="2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8"/>
          <p:cNvSpPr/>
          <p:nvPr/>
        </p:nvSpPr>
        <p:spPr>
          <a:xfrm>
            <a:off x="8321039" y="2439494"/>
            <a:ext cx="3416969" cy="41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~ 21%</a:t>
            </a:r>
            <a:endParaRPr sz="2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8"/>
          <p:cNvSpPr/>
          <p:nvPr/>
        </p:nvSpPr>
        <p:spPr>
          <a:xfrm>
            <a:off x="8458199" y="2926144"/>
            <a:ext cx="3128211" cy="33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8"/>
          <p:cNvSpPr/>
          <p:nvPr/>
        </p:nvSpPr>
        <p:spPr>
          <a:xfrm>
            <a:off x="731520" y="3251646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Phân tích chất lượng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8"/>
          <p:cNvSpPr/>
          <p:nvPr/>
        </p:nvSpPr>
        <p:spPr>
          <a:xfrm>
            <a:off x="731520" y="3663126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8"/>
          <p:cNvSpPr/>
          <p:nvPr/>
        </p:nvSpPr>
        <p:spPr>
          <a:xfrm>
            <a:off x="914400" y="3663126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Tỷ lệ lỗi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8"/>
          <p:cNvSpPr/>
          <p:nvPr/>
        </p:nvSpPr>
        <p:spPr>
          <a:xfrm>
            <a:off x="4892040" y="3663126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lang="en-US" sz="14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≈ 20%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8"/>
          <p:cNvSpPr/>
          <p:nvPr/>
        </p:nvSpPr>
        <p:spPr>
          <a:xfrm>
            <a:off x="6126480" y="3663126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8"/>
          <p:cNvSpPr/>
          <p:nvPr/>
        </p:nvSpPr>
        <p:spPr>
          <a:xfrm>
            <a:off x="6309360" y="3663126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2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Tỷ lệ làm lại (Rework)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8"/>
          <p:cNvSpPr/>
          <p:nvPr/>
        </p:nvSpPr>
        <p:spPr>
          <a:xfrm>
            <a:off x="10287000" y="3663126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lang="en-US" sz="14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≈ 15%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8"/>
          <p:cNvSpPr/>
          <p:nvPr/>
        </p:nvSpPr>
        <p:spPr>
          <a:xfrm>
            <a:off x="731520" y="4795162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 cap="flat" cmpd="sng">
            <a:solidFill>
              <a:srgbClr val="E2E6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8"/>
          <p:cNvSpPr/>
          <p:nvPr/>
        </p:nvSpPr>
        <p:spPr>
          <a:xfrm>
            <a:off x="914400" y="4795162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Tiền lương trả cho các hoạt động NVA vô giá trị</a:t>
            </a:r>
            <a:endParaRPr sz="1100" b="0" i="0" u="non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8"/>
          <p:cNvSpPr/>
          <p:nvPr/>
        </p:nvSpPr>
        <p:spPr>
          <a:xfrm>
            <a:off x="4892040" y="4795162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lang="en-US" sz="14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≈ 100tr VND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8"/>
          <p:cNvSpPr/>
          <p:nvPr/>
        </p:nvSpPr>
        <p:spPr>
          <a:xfrm>
            <a:off x="548640" y="635508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8"/>
          <p:cNvSpPr txBox="1"/>
          <p:nvPr/>
        </p:nvSpPr>
        <p:spPr>
          <a:xfrm>
            <a:off x="1280160" y="1837795"/>
            <a:ext cx="258190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Cycle Time</a:t>
            </a:r>
            <a:endParaRPr/>
          </a:p>
        </p:txBody>
      </p:sp>
      <p:sp>
        <p:nvSpPr>
          <p:cNvPr id="537" name="Google Shape;537;p28"/>
          <p:cNvSpPr txBox="1"/>
          <p:nvPr/>
        </p:nvSpPr>
        <p:spPr>
          <a:xfrm>
            <a:off x="5073470" y="1830479"/>
            <a:ext cx="247733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Waiting Time</a:t>
            </a:r>
            <a:endParaRPr/>
          </a:p>
        </p:txBody>
      </p:sp>
      <p:sp>
        <p:nvSpPr>
          <p:cNvPr id="538" name="Google Shape;538;p28"/>
          <p:cNvSpPr txBox="1"/>
          <p:nvPr/>
        </p:nvSpPr>
        <p:spPr>
          <a:xfrm>
            <a:off x="8687023" y="1776126"/>
            <a:ext cx="260821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Hiệu suất</a:t>
            </a:r>
            <a:endParaRPr sz="2400" b="1">
              <a:solidFill>
                <a:srgbClr val="00B05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39" name="Google Shape;539;p28"/>
          <p:cNvSpPr txBox="1"/>
          <p:nvPr/>
        </p:nvSpPr>
        <p:spPr>
          <a:xfrm>
            <a:off x="5106202" y="2788750"/>
            <a:ext cx="252663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Chiếm gần 70% quy trình chỉ để chờ duyệt</a:t>
            </a:r>
            <a:endParaRPr sz="1050" b="0" i="0" u="non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8"/>
          <p:cNvSpPr txBox="1"/>
          <p:nvPr/>
        </p:nvSpPr>
        <p:spPr>
          <a:xfrm>
            <a:off x="731520" y="4318308"/>
            <a:ext cx="609760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Chi phí lãng phí / 1 tháng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8"/>
          <p:cNvSpPr txBox="1"/>
          <p:nvPr/>
        </p:nvSpPr>
        <p:spPr>
          <a:xfrm>
            <a:off x="731520" y="1313810"/>
            <a:ext cx="609760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Phân tích thời gian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8"/>
          <p:cNvSpPr/>
          <p:nvPr/>
        </p:nvSpPr>
        <p:spPr>
          <a:xfrm>
            <a:off x="2716839" y="5491789"/>
            <a:ext cx="6819281" cy="1000892"/>
          </a:xfrm>
          <a:prstGeom prst="roundRect">
            <a:avLst>
              <a:gd name="adj" fmla="val 2210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Đề xuất khắc phục: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-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Áp dụng giao diện lập trình ứng dụng (API) Dịch thuật Trí tuệ nhân tạo (AI)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-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Triển khai hệ thống Phê duyệt Điện tử (E-Approval) và Phân quyền tự động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8"/>
          <p:cNvSpPr txBox="1">
            <a:spLocks noGrp="1"/>
          </p:cNvSpPr>
          <p:nvPr>
            <p:ph type="sldNum" idx="12"/>
          </p:nvPr>
        </p:nvSpPr>
        <p:spPr>
          <a:xfrm>
            <a:off x="9168864" y="625623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29"/>
          <p:cNvSpPr/>
          <p:nvPr/>
        </p:nvSpPr>
        <p:spPr>
          <a:xfrm>
            <a:off x="0" y="6350000"/>
            <a:ext cx="12192000" cy="507900"/>
          </a:xfrm>
          <a:prstGeom prst="rect">
            <a:avLst/>
          </a:prstGeom>
          <a:solidFill>
            <a:srgbClr val="14294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0" name="Google Shape;550;p29"/>
          <p:cNvCxnSpPr/>
          <p:nvPr/>
        </p:nvCxnSpPr>
        <p:spPr>
          <a:xfrm>
            <a:off x="762000" y="635000"/>
            <a:ext cx="0" cy="507900"/>
          </a:xfrm>
          <a:prstGeom prst="straightConnector1">
            <a:avLst/>
          </a:prstGeom>
          <a:solidFill>
            <a:srgbClr val="FFFFFF"/>
          </a:solidFill>
          <a:ln w="50800" cap="flat" cmpd="sng">
            <a:solidFill>
              <a:srgbClr val="007B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1" name="Google Shape;551;p29"/>
          <p:cNvSpPr txBox="1"/>
          <p:nvPr/>
        </p:nvSpPr>
        <p:spPr>
          <a:xfrm>
            <a:off x="1016000" y="571500"/>
            <a:ext cx="101601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US" sz="37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Hướng phát triển</a:t>
            </a:r>
            <a:endParaRPr sz="37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2" name="Google Shape;552;p29"/>
          <p:cNvSpPr txBox="1"/>
          <p:nvPr/>
        </p:nvSpPr>
        <p:spPr>
          <a:xfrm>
            <a:off x="762000" y="224627"/>
            <a:ext cx="2024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7B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05. Kết luận</a:t>
            </a:r>
            <a:endParaRPr sz="2200" b="0" i="0" u="none" strike="noStrike" cap="none">
              <a:solidFill>
                <a:srgbClr val="007B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53" name="Google Shape;553;p29"/>
          <p:cNvGrpSpPr/>
          <p:nvPr/>
        </p:nvGrpSpPr>
        <p:grpSpPr>
          <a:xfrm>
            <a:off x="1271784" y="1553562"/>
            <a:ext cx="4363555" cy="4363980"/>
            <a:chOff x="571500" y="1238250"/>
            <a:chExt cx="4286400" cy="1047900"/>
          </a:xfrm>
        </p:grpSpPr>
        <p:sp>
          <p:nvSpPr>
            <p:cNvPr id="554" name="Google Shape;554;p29"/>
            <p:cNvSpPr/>
            <p:nvPr/>
          </p:nvSpPr>
          <p:spPr>
            <a:xfrm>
              <a:off x="571500" y="1238250"/>
              <a:ext cx="4286400" cy="1047900"/>
            </a:xfrm>
            <a:prstGeom prst="roundRect">
              <a:avLst>
                <a:gd name="adj" fmla="val 10909"/>
              </a:avLst>
            </a:prstGeom>
            <a:solidFill>
              <a:srgbClr val="142948"/>
            </a:solidFill>
            <a:ln w="12700" cap="flat" cmpd="sng">
              <a:solidFill>
                <a:srgbClr val="007B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1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5" name="Google Shape;555;p29"/>
            <p:cNvSpPr txBox="1"/>
            <p:nvPr/>
          </p:nvSpPr>
          <p:spPr>
            <a:xfrm>
              <a:off x="922767" y="1313218"/>
              <a:ext cx="3607500" cy="87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Mở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rộng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tự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động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hóa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áp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dụng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Power Automate/Power Apps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và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AI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dịch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thuật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cho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toàn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bộ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10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quy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trình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để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triệt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tiêu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rào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cản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ngôn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ngữ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và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văn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hóa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phê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duyệt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Hanko.</a:t>
              </a:r>
              <a:endParaRPr sz="24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56" name="Google Shape;556;p29"/>
          <p:cNvGrpSpPr/>
          <p:nvPr/>
        </p:nvGrpSpPr>
        <p:grpSpPr>
          <a:xfrm>
            <a:off x="6199399" y="1553562"/>
            <a:ext cx="4363555" cy="4363980"/>
            <a:chOff x="571500" y="1238250"/>
            <a:chExt cx="4286400" cy="1047900"/>
          </a:xfrm>
        </p:grpSpPr>
        <p:sp>
          <p:nvSpPr>
            <p:cNvPr id="557" name="Google Shape;557;p29"/>
            <p:cNvSpPr/>
            <p:nvPr/>
          </p:nvSpPr>
          <p:spPr>
            <a:xfrm>
              <a:off x="571500" y="1238250"/>
              <a:ext cx="4286400" cy="1047900"/>
            </a:xfrm>
            <a:prstGeom prst="roundRect">
              <a:avLst>
                <a:gd name="adj" fmla="val 10909"/>
              </a:avLst>
            </a:prstGeom>
            <a:solidFill>
              <a:srgbClr val="142948"/>
            </a:solidFill>
            <a:ln w="12700" cap="flat" cmpd="sng">
              <a:solidFill>
                <a:srgbClr val="92D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1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8" name="Google Shape;558;p29"/>
            <p:cNvSpPr txBox="1"/>
            <p:nvPr/>
          </p:nvSpPr>
          <p:spPr>
            <a:xfrm>
              <a:off x="910708" y="1313218"/>
              <a:ext cx="3604500" cy="87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Tích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hợp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Process Mining: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giám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sát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Lead Time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theo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thời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gian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thực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trên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toàn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hệ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thống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phát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hiện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sớm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điểm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nghẽn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mới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phát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sinh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và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đo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lường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hiệu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quả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các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cải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tiến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To-Be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sau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triển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400" b="0" i="0" u="none" strike="noStrike" cap="none" dirty="0" err="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khai</a:t>
              </a:r>
              <a:r>
                <a:rPr lang="en-US" sz="24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sz="24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59" name="Google Shape;559;p29"/>
          <p:cNvSpPr txBox="1">
            <a:spLocks noGrp="1"/>
          </p:cNvSpPr>
          <p:nvPr>
            <p:ph type="sldNum" idx="12"/>
          </p:nvPr>
        </p:nvSpPr>
        <p:spPr>
          <a:xfrm>
            <a:off x="15062148" y="829016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5" name="Google Shape;56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30"/>
          <p:cNvSpPr/>
          <p:nvPr/>
        </p:nvSpPr>
        <p:spPr>
          <a:xfrm>
            <a:off x="0" y="6350000"/>
            <a:ext cx="12192000" cy="507900"/>
          </a:xfrm>
          <a:prstGeom prst="rect">
            <a:avLst/>
          </a:prstGeom>
          <a:solidFill>
            <a:srgbClr val="14294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0"/>
          <p:cNvSpPr/>
          <p:nvPr/>
        </p:nvSpPr>
        <p:spPr>
          <a:xfrm>
            <a:off x="762000" y="662152"/>
            <a:ext cx="10668000" cy="5180100"/>
          </a:xfrm>
          <a:prstGeom prst="roundRect">
            <a:avLst>
              <a:gd name="adj" fmla="val 3529"/>
            </a:avLst>
          </a:prstGeom>
          <a:solidFill>
            <a:srgbClr val="142948"/>
          </a:solidFill>
          <a:ln w="12700" cap="flat" cmpd="sng">
            <a:solidFill>
              <a:srgbClr val="007B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CẢM ƠN THẦY/CÔ VÀ CÁC BẠN ĐÃ LẮNG NGHE</a:t>
            </a:r>
            <a:endParaRPr sz="190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0" i="0" u="none" strike="noStrike" cap="none">
                <a:solidFill>
                  <a:srgbClr val="8CB5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 System Co., Ltd.</a:t>
            </a:r>
            <a:endParaRPr sz="1900"/>
          </a:p>
        </p:txBody>
      </p:sp>
      <p:sp>
        <p:nvSpPr>
          <p:cNvPr id="568" name="Google Shape;568;p30"/>
          <p:cNvSpPr txBox="1">
            <a:spLocks noGrp="1"/>
          </p:cNvSpPr>
          <p:nvPr>
            <p:ph type="sldNum" idx="12"/>
          </p:nvPr>
        </p:nvSpPr>
        <p:spPr>
          <a:xfrm>
            <a:off x="15062148" y="829016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2722</Words>
  <Application>Microsoft Macintosh PowerPoint</Application>
  <PresentationFormat>Widescreen</PresentationFormat>
  <Paragraphs>480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Montserrat</vt:lpstr>
      <vt:lpstr>Arial</vt:lpstr>
      <vt:lpstr>Cambria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Office User</cp:lastModifiedBy>
  <cp:revision>4</cp:revision>
  <dcterms:modified xsi:type="dcterms:W3CDTF">2026-09-16T14:13:15Z</dcterms:modified>
</cp:coreProperties>
</file>